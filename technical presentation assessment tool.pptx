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1430000" cy="8305800"/>
  <p:notesSz cx="11430000" cy="8305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49" cy="6438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5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390207"/>
            <a:ext cx="484314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hyperlink" Target="https://gamma.app/?utm_source=made-with-gamma" TargetMode="External"/><Relationship Id="rId10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1841150"/>
            <a:ext cx="5727065" cy="94234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dirty="0" sz="2950"/>
              <a:t>Resolution</a:t>
            </a:r>
            <a:r>
              <a:rPr dirty="0" sz="2950" spc="-75"/>
              <a:t> </a:t>
            </a:r>
            <a:r>
              <a:rPr dirty="0" sz="2950" spc="-65"/>
              <a:t>vs.</a:t>
            </a:r>
            <a:r>
              <a:rPr dirty="0" sz="2950" spc="-75"/>
              <a:t> </a:t>
            </a:r>
            <a:r>
              <a:rPr dirty="0" sz="2950"/>
              <a:t>Storage:</a:t>
            </a:r>
            <a:r>
              <a:rPr dirty="0" sz="2950" spc="-70"/>
              <a:t> </a:t>
            </a:r>
            <a:r>
              <a:rPr dirty="0" sz="2950" spc="-10"/>
              <a:t>Navigating </a:t>
            </a:r>
            <a:r>
              <a:rPr dirty="0" sz="2950" spc="55"/>
              <a:t>the</a:t>
            </a:r>
            <a:r>
              <a:rPr dirty="0" sz="2950" spc="-165"/>
              <a:t> </a:t>
            </a:r>
            <a:r>
              <a:rPr dirty="0" sz="2950" spc="75"/>
              <a:t>Computer</a:t>
            </a:r>
            <a:r>
              <a:rPr dirty="0" sz="2950" spc="-160"/>
              <a:t> </a:t>
            </a:r>
            <a:r>
              <a:rPr dirty="0" sz="2950"/>
              <a:t>Vision</a:t>
            </a:r>
            <a:r>
              <a:rPr dirty="0" sz="2950" spc="-160"/>
              <a:t> </a:t>
            </a:r>
            <a:r>
              <a:rPr dirty="0" sz="2950" spc="50"/>
              <a:t>Trade-</a:t>
            </a:r>
            <a:r>
              <a:rPr dirty="0" sz="2950" spc="90"/>
              <a:t>off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624879" y="2981445"/>
            <a:ext cx="5650230" cy="15589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 indent="38735">
              <a:lnSpc>
                <a:spcPct val="134000"/>
              </a:lnSpc>
              <a:spcBef>
                <a:spcPts val="11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focused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guide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understanding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spatial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interact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in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computer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vision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systems.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We'll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compare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technical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trade-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offs,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show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practical analysis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visuals,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outline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tactical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strategies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building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that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balance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fidelity,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cost,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performance.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this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deck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decide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capture,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architect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real-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world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CV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applications.</a:t>
            </a:r>
            <a:endParaRPr sz="125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1354137"/>
            <a:ext cx="3620770" cy="385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dirty="0" spc="-85"/>
              <a:t> </a:t>
            </a:r>
            <a:r>
              <a:rPr dirty="0" spc="-10"/>
              <a:t>is</a:t>
            </a:r>
            <a:r>
              <a:rPr dirty="0" spc="-80"/>
              <a:t> </a:t>
            </a:r>
            <a:r>
              <a:rPr dirty="0"/>
              <a:t>Spatial</a:t>
            </a:r>
            <a:r>
              <a:rPr dirty="0" spc="-80"/>
              <a:t> </a:t>
            </a:r>
            <a:r>
              <a:rPr dirty="0" spc="-10"/>
              <a:t>Resolution?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9" y="2019420"/>
            <a:ext cx="969391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  <a:tabLst>
                <a:tab pos="891984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Spatial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describes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system's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ability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resolve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fine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detail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effectively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small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distinguished.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imaging,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it's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typically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size,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optics,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sensor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sampling;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alone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does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not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guarantee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effective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resolution.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	Key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points: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2762265"/>
            <a:ext cx="942974" cy="5809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67132" y="2743073"/>
            <a:ext cx="1935480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Pixels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30">
                <a:solidFill>
                  <a:srgbClr val="3B3434"/>
                </a:solidFill>
                <a:latin typeface="Tahoma"/>
                <a:cs typeface="Tahoma"/>
              </a:rPr>
              <a:t>vs.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 Resolution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(MP)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one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metric,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but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optical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quality, sampling,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demosaicing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determine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true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resolving power.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09" y="2762265"/>
            <a:ext cx="942990" cy="5809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18458" y="2743073"/>
            <a:ext cx="1997075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50">
                <a:solidFill>
                  <a:srgbClr val="3B3434"/>
                </a:solidFill>
                <a:latin typeface="Tahoma"/>
                <a:cs typeface="Tahoma"/>
              </a:rPr>
              <a:t>Optics</a:t>
            </a:r>
            <a:r>
              <a:rPr dirty="0" sz="1450" spc="-10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Matter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Lens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MTF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(modulation transfer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function)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focus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depth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often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limit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effective resolution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before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count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does.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800" y="2762265"/>
            <a:ext cx="942990" cy="5809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69785" y="2743073"/>
            <a:ext cx="1902460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Rule</a:t>
            </a:r>
            <a:r>
              <a:rPr dirty="0" sz="1450" spc="-8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3B3434"/>
                </a:solidFill>
                <a:latin typeface="Tahoma"/>
                <a:cs typeface="Tahoma"/>
              </a:rPr>
              <a:t>of</a:t>
            </a:r>
            <a:r>
              <a:rPr dirty="0" sz="1450" spc="-7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Thumb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identification</a:t>
            </a:r>
            <a:r>
              <a:rPr dirty="0" sz="1250" spc="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(not</a:t>
            </a:r>
            <a:r>
              <a:rPr dirty="0" sz="1250" spc="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just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detection),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sensors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~10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across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the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target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ensure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reliable</a:t>
            </a:r>
            <a:r>
              <a:rPr dirty="0" sz="1250" spc="-7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recognition.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79" y="4486395"/>
            <a:ext cx="982726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35000"/>
              </a:lnSpc>
              <a:spcBef>
                <a:spcPts val="10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Understanding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nuances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helps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teams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minimal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acceptable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still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meets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accuracy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targets,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avoiding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unnecessary storage costs.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11" name="object 11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1192212"/>
            <a:ext cx="5447030" cy="385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dirty="0" spc="-135"/>
              <a:t> </a:t>
            </a:r>
            <a:r>
              <a:rPr dirty="0" spc="50"/>
              <a:t>Mechanics</a:t>
            </a:r>
            <a:r>
              <a:rPr dirty="0" spc="-130"/>
              <a:t> </a:t>
            </a:r>
            <a:r>
              <a:rPr dirty="0" spc="65"/>
              <a:t>of</a:t>
            </a:r>
            <a:r>
              <a:rPr dirty="0" spc="-130"/>
              <a:t> </a:t>
            </a:r>
            <a:r>
              <a:rPr dirty="0" spc="45"/>
              <a:t>Storage</a:t>
            </a:r>
            <a:r>
              <a:rPr dirty="0" spc="-130"/>
              <a:t> </a:t>
            </a:r>
            <a:r>
              <a:rPr dirty="0" spc="-1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9" y="1857495"/>
            <a:ext cx="983361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grows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rapidly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increased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resolution.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Doubling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linear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(width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height)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multiplies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raw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file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size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by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four.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balance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throughput,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short-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term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RAM/buffer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needs,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long-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term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archival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when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designing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pipelines.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175" y="26003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21" y="1924050"/>
                </a:moveTo>
                <a:lnTo>
                  <a:pt x="17282" y="1924050"/>
                </a:lnTo>
                <a:lnTo>
                  <a:pt x="14740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82" y="0"/>
                </a:lnTo>
                <a:lnTo>
                  <a:pt x="3259321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55" y="1923545"/>
                </a:lnTo>
                <a:lnTo>
                  <a:pt x="3259321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4274" y="2743073"/>
            <a:ext cx="2955290" cy="1083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Scaling</a:t>
            </a:r>
            <a:r>
              <a:rPr dirty="0" sz="1450" spc="9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Behavior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2500"/>
              </a:lnSpc>
              <a:spcBef>
                <a:spcPts val="59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scales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quadratically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linear resolution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plan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exponential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growth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when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upgrading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sensors.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76700" y="26003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21" y="1924050"/>
                </a:moveTo>
                <a:lnTo>
                  <a:pt x="17278" y="1924050"/>
                </a:lnTo>
                <a:lnTo>
                  <a:pt x="14744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78" y="0"/>
                </a:lnTo>
                <a:lnTo>
                  <a:pt x="3259321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55" y="1923545"/>
                </a:lnTo>
                <a:lnTo>
                  <a:pt x="3259321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22353" y="2743073"/>
            <a:ext cx="2952115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Compression</a:t>
            </a:r>
            <a:r>
              <a:rPr dirty="0" sz="1450" spc="13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Options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Lossy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(JPEG,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H.264)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reduce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size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dramatically;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lossless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formats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(PNG,</a:t>
            </a: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TIFF)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preserve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fidelity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cost.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Newer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(JPEG2000, HEIF) offer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ROI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and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scalable</a:t>
            </a:r>
            <a:r>
              <a:rPr dirty="0" sz="1250" spc="-6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quality.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15225" y="26003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59" y="1924050"/>
                </a:moveTo>
                <a:lnTo>
                  <a:pt x="17278" y="1924050"/>
                </a:lnTo>
                <a:lnTo>
                  <a:pt x="14735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78" y="0"/>
                </a:lnTo>
                <a:lnTo>
                  <a:pt x="3259359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36" y="1923545"/>
                </a:lnTo>
                <a:lnTo>
                  <a:pt x="3259359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60430" y="2743073"/>
            <a:ext cx="2850515" cy="1340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Infrastructure</a:t>
            </a:r>
            <a:r>
              <a:rPr dirty="0" sz="1450" spc="-10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Constraints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58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RAM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I/O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bandwidth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match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rates;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high-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gigapixel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mosaics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often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require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tiled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streaming processing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avoid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bottlenecks.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79" y="4648320"/>
            <a:ext cx="1002284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35000"/>
              </a:lnSpc>
              <a:spcBef>
                <a:spcPts val="10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Practical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design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couples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policy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deciding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keep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raw,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keep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compressed,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discard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downsample.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11" name="object 11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305800"/>
          </a:xfrm>
          <a:custGeom>
            <a:avLst/>
            <a:gdLst/>
            <a:ahLst/>
            <a:cxnLst/>
            <a:rect l="l" t="t" r="r" b="b"/>
            <a:pathLst>
              <a:path w="11430000" h="8305800">
                <a:moveTo>
                  <a:pt x="11430000" y="8305800"/>
                </a:moveTo>
                <a:lnTo>
                  <a:pt x="0" y="83058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3058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4879" y="411162"/>
            <a:ext cx="4766310" cy="385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Comparative</a:t>
            </a:r>
            <a:r>
              <a:rPr dirty="0" spc="25"/>
              <a:t> </a:t>
            </a:r>
            <a:r>
              <a:rPr dirty="0" spc="-20"/>
              <a:t>Analysis:</a:t>
            </a:r>
            <a:r>
              <a:rPr dirty="0" spc="35"/>
              <a:t> </a:t>
            </a:r>
            <a:r>
              <a:rPr dirty="0"/>
              <a:t>Data</a:t>
            </a:r>
            <a:r>
              <a:rPr dirty="0" spc="35"/>
              <a:t> </a:t>
            </a:r>
            <a:r>
              <a:rPr dirty="0" spc="-10"/>
              <a:t>Density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4879" y="1076445"/>
            <a:ext cx="975804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This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section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contrasts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common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targets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formats,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showing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format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choices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affect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these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visual comparisons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inform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trade-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offs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web,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print,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forensic,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large-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scale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mapping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scenarios.</a:t>
            </a:r>
            <a:endParaRPr sz="1250">
              <a:latin typeface="Roboto Lt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17441" y="2000250"/>
            <a:ext cx="1257935" cy="215265"/>
            <a:chOff x="1917441" y="2000250"/>
            <a:chExt cx="1257935" cy="215265"/>
          </a:xfrm>
        </p:grpSpPr>
        <p:sp>
          <p:nvSpPr>
            <p:cNvPr id="6" name="object 6"/>
            <p:cNvSpPr/>
            <p:nvPr/>
          </p:nvSpPr>
          <p:spPr>
            <a:xfrm>
              <a:off x="1917441" y="2000250"/>
              <a:ext cx="1257935" cy="215265"/>
            </a:xfrm>
            <a:custGeom>
              <a:avLst/>
              <a:gdLst/>
              <a:ahLst/>
              <a:cxnLst/>
              <a:rect l="l" t="t" r="r" b="b"/>
              <a:pathLst>
                <a:path w="1257935" h="215264">
                  <a:moveTo>
                    <a:pt x="1150263" y="215002"/>
                  </a:moveTo>
                  <a:lnTo>
                    <a:pt x="107499" y="215002"/>
                  </a:lnTo>
                  <a:lnTo>
                    <a:pt x="96910" y="214491"/>
                  </a:lnTo>
                  <a:lnTo>
                    <a:pt x="56772" y="202294"/>
                  </a:lnTo>
                  <a:lnTo>
                    <a:pt x="24359" y="175666"/>
                  </a:lnTo>
                  <a:lnTo>
                    <a:pt x="4602" y="138660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6" y="56774"/>
                  </a:lnTo>
                  <a:lnTo>
                    <a:pt x="39335" y="24359"/>
                  </a:lnTo>
                  <a:lnTo>
                    <a:pt x="76340" y="4602"/>
                  </a:lnTo>
                  <a:lnTo>
                    <a:pt x="107499" y="0"/>
                  </a:lnTo>
                  <a:lnTo>
                    <a:pt x="1150263" y="0"/>
                  </a:lnTo>
                  <a:lnTo>
                    <a:pt x="1191402" y="8183"/>
                  </a:lnTo>
                  <a:lnTo>
                    <a:pt x="1226277" y="31486"/>
                  </a:lnTo>
                  <a:lnTo>
                    <a:pt x="1249582" y="66362"/>
                  </a:lnTo>
                  <a:lnTo>
                    <a:pt x="1257766" y="107501"/>
                  </a:lnTo>
                  <a:lnTo>
                    <a:pt x="1257254" y="118091"/>
                  </a:lnTo>
                  <a:lnTo>
                    <a:pt x="1245057" y="158228"/>
                  </a:lnTo>
                  <a:lnTo>
                    <a:pt x="1218427" y="190642"/>
                  </a:lnTo>
                  <a:lnTo>
                    <a:pt x="1181422" y="210399"/>
                  </a:lnTo>
                  <a:lnTo>
                    <a:pt x="1150263" y="215002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17441" y="2000250"/>
              <a:ext cx="1257935" cy="215265"/>
            </a:xfrm>
            <a:custGeom>
              <a:avLst/>
              <a:gdLst/>
              <a:ahLst/>
              <a:cxnLst/>
              <a:rect l="l" t="t" r="r" b="b"/>
              <a:pathLst>
                <a:path w="1257935" h="215264">
                  <a:moveTo>
                    <a:pt x="1150263" y="215002"/>
                  </a:moveTo>
                  <a:lnTo>
                    <a:pt x="107499" y="215002"/>
                  </a:lnTo>
                  <a:lnTo>
                    <a:pt x="96910" y="214491"/>
                  </a:lnTo>
                  <a:lnTo>
                    <a:pt x="56772" y="202294"/>
                  </a:lnTo>
                  <a:lnTo>
                    <a:pt x="24359" y="175666"/>
                  </a:lnTo>
                  <a:lnTo>
                    <a:pt x="4601" y="138657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6" y="56774"/>
                  </a:lnTo>
                  <a:lnTo>
                    <a:pt x="39335" y="24359"/>
                  </a:lnTo>
                  <a:lnTo>
                    <a:pt x="76340" y="4602"/>
                  </a:lnTo>
                  <a:lnTo>
                    <a:pt x="107499" y="0"/>
                  </a:lnTo>
                  <a:lnTo>
                    <a:pt x="1150263" y="0"/>
                  </a:lnTo>
                  <a:lnTo>
                    <a:pt x="1191402" y="8183"/>
                  </a:lnTo>
                  <a:lnTo>
                    <a:pt x="1196841" y="10750"/>
                  </a:lnTo>
                  <a:lnTo>
                    <a:pt x="101148" y="10750"/>
                  </a:lnTo>
                  <a:lnTo>
                    <a:pt x="94859" y="11369"/>
                  </a:lnTo>
                  <a:lnTo>
                    <a:pt x="48461" y="30585"/>
                  </a:lnTo>
                  <a:lnTo>
                    <a:pt x="20543" y="64607"/>
                  </a:lnTo>
                  <a:lnTo>
                    <a:pt x="10750" y="101148"/>
                  </a:lnTo>
                  <a:lnTo>
                    <a:pt x="10750" y="113853"/>
                  </a:lnTo>
                  <a:lnTo>
                    <a:pt x="23521" y="155971"/>
                  </a:lnTo>
                  <a:lnTo>
                    <a:pt x="59029" y="191476"/>
                  </a:lnTo>
                  <a:lnTo>
                    <a:pt x="101148" y="204252"/>
                  </a:lnTo>
                  <a:lnTo>
                    <a:pt x="1196840" y="204252"/>
                  </a:lnTo>
                  <a:lnTo>
                    <a:pt x="1191402" y="206819"/>
                  </a:lnTo>
                  <a:lnTo>
                    <a:pt x="1181422" y="210399"/>
                  </a:lnTo>
                  <a:lnTo>
                    <a:pt x="1171239" y="212956"/>
                  </a:lnTo>
                  <a:lnTo>
                    <a:pt x="1160853" y="214491"/>
                  </a:lnTo>
                  <a:lnTo>
                    <a:pt x="1150263" y="215002"/>
                  </a:lnTo>
                  <a:close/>
                </a:path>
                <a:path w="1257935" h="215264">
                  <a:moveTo>
                    <a:pt x="1196840" y="204252"/>
                  </a:moveTo>
                  <a:lnTo>
                    <a:pt x="1156618" y="204252"/>
                  </a:lnTo>
                  <a:lnTo>
                    <a:pt x="1162907" y="203633"/>
                  </a:lnTo>
                  <a:lnTo>
                    <a:pt x="1175366" y="201154"/>
                  </a:lnTo>
                  <a:lnTo>
                    <a:pt x="1214185" y="180406"/>
                  </a:lnTo>
                  <a:lnTo>
                    <a:pt x="1242082" y="138657"/>
                  </a:lnTo>
                  <a:lnTo>
                    <a:pt x="1247016" y="113853"/>
                  </a:lnTo>
                  <a:lnTo>
                    <a:pt x="1247016" y="101148"/>
                  </a:lnTo>
                  <a:lnTo>
                    <a:pt x="1234245" y="59031"/>
                  </a:lnTo>
                  <a:lnTo>
                    <a:pt x="1198737" y="23526"/>
                  </a:lnTo>
                  <a:lnTo>
                    <a:pt x="1156618" y="10750"/>
                  </a:lnTo>
                  <a:lnTo>
                    <a:pt x="1196841" y="10750"/>
                  </a:lnTo>
                  <a:lnTo>
                    <a:pt x="1233405" y="39336"/>
                  </a:lnTo>
                  <a:lnTo>
                    <a:pt x="1253162" y="76341"/>
                  </a:lnTo>
                  <a:lnTo>
                    <a:pt x="1257766" y="107501"/>
                  </a:lnTo>
                  <a:lnTo>
                    <a:pt x="1257254" y="118091"/>
                  </a:lnTo>
                  <a:lnTo>
                    <a:pt x="1245057" y="158228"/>
                  </a:lnTo>
                  <a:lnTo>
                    <a:pt x="1218427" y="190642"/>
                  </a:lnTo>
                  <a:lnTo>
                    <a:pt x="1200990" y="202294"/>
                  </a:lnTo>
                  <a:lnTo>
                    <a:pt x="1196840" y="204252"/>
                  </a:lnTo>
                  <a:close/>
                </a:path>
              </a:pathLst>
            </a:custGeom>
            <a:solidFill>
              <a:srgbClr val="1C2029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638175" y="2000250"/>
            <a:ext cx="1193800" cy="215265"/>
            <a:chOff x="638175" y="2000250"/>
            <a:chExt cx="1193800" cy="215265"/>
          </a:xfrm>
        </p:grpSpPr>
        <p:sp>
          <p:nvSpPr>
            <p:cNvPr id="9" name="object 9"/>
            <p:cNvSpPr/>
            <p:nvPr/>
          </p:nvSpPr>
          <p:spPr>
            <a:xfrm>
              <a:off x="638175" y="2000250"/>
              <a:ext cx="1193800" cy="215265"/>
            </a:xfrm>
            <a:custGeom>
              <a:avLst/>
              <a:gdLst/>
              <a:ahLst/>
              <a:cxnLst/>
              <a:rect l="l" t="t" r="r" b="b"/>
              <a:pathLst>
                <a:path w="1193800" h="215264">
                  <a:moveTo>
                    <a:pt x="1085764" y="215002"/>
                  </a:moveTo>
                  <a:lnTo>
                    <a:pt x="107501" y="215002"/>
                  </a:lnTo>
                  <a:lnTo>
                    <a:pt x="96911" y="214491"/>
                  </a:lnTo>
                  <a:lnTo>
                    <a:pt x="56774" y="202294"/>
                  </a:lnTo>
                  <a:lnTo>
                    <a:pt x="24359" y="175666"/>
                  </a:lnTo>
                  <a:lnTo>
                    <a:pt x="4602" y="138660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8" y="56774"/>
                  </a:lnTo>
                  <a:lnTo>
                    <a:pt x="39336" y="24359"/>
                  </a:lnTo>
                  <a:lnTo>
                    <a:pt x="76341" y="4602"/>
                  </a:lnTo>
                  <a:lnTo>
                    <a:pt x="107501" y="0"/>
                  </a:lnTo>
                  <a:lnTo>
                    <a:pt x="1085764" y="0"/>
                  </a:lnTo>
                  <a:lnTo>
                    <a:pt x="1126903" y="8183"/>
                  </a:lnTo>
                  <a:lnTo>
                    <a:pt x="1161778" y="31486"/>
                  </a:lnTo>
                  <a:lnTo>
                    <a:pt x="1185080" y="66362"/>
                  </a:lnTo>
                  <a:lnTo>
                    <a:pt x="1193264" y="107501"/>
                  </a:lnTo>
                  <a:lnTo>
                    <a:pt x="1192752" y="118091"/>
                  </a:lnTo>
                  <a:lnTo>
                    <a:pt x="1180556" y="158228"/>
                  </a:lnTo>
                  <a:lnTo>
                    <a:pt x="1153929" y="190642"/>
                  </a:lnTo>
                  <a:lnTo>
                    <a:pt x="1116923" y="210399"/>
                  </a:lnTo>
                  <a:lnTo>
                    <a:pt x="1085764" y="215002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38175" y="2000250"/>
              <a:ext cx="1193800" cy="215265"/>
            </a:xfrm>
            <a:custGeom>
              <a:avLst/>
              <a:gdLst/>
              <a:ahLst/>
              <a:cxnLst/>
              <a:rect l="l" t="t" r="r" b="b"/>
              <a:pathLst>
                <a:path w="1193800" h="215264">
                  <a:moveTo>
                    <a:pt x="1085764" y="215002"/>
                  </a:moveTo>
                  <a:lnTo>
                    <a:pt x="107501" y="215002"/>
                  </a:lnTo>
                  <a:lnTo>
                    <a:pt x="96911" y="214491"/>
                  </a:lnTo>
                  <a:lnTo>
                    <a:pt x="56774" y="202294"/>
                  </a:lnTo>
                  <a:lnTo>
                    <a:pt x="24359" y="175666"/>
                  </a:lnTo>
                  <a:lnTo>
                    <a:pt x="4602" y="138657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8" y="56774"/>
                  </a:lnTo>
                  <a:lnTo>
                    <a:pt x="39336" y="24359"/>
                  </a:lnTo>
                  <a:lnTo>
                    <a:pt x="76341" y="4602"/>
                  </a:lnTo>
                  <a:lnTo>
                    <a:pt x="107501" y="0"/>
                  </a:lnTo>
                  <a:lnTo>
                    <a:pt x="1085764" y="0"/>
                  </a:lnTo>
                  <a:lnTo>
                    <a:pt x="1126903" y="8183"/>
                  </a:lnTo>
                  <a:lnTo>
                    <a:pt x="1132342" y="10750"/>
                  </a:lnTo>
                  <a:lnTo>
                    <a:pt x="101148" y="10750"/>
                  </a:lnTo>
                  <a:lnTo>
                    <a:pt x="94856" y="11369"/>
                  </a:lnTo>
                  <a:lnTo>
                    <a:pt x="48467" y="30585"/>
                  </a:lnTo>
                  <a:lnTo>
                    <a:pt x="20545" y="64607"/>
                  </a:lnTo>
                  <a:lnTo>
                    <a:pt x="10750" y="101148"/>
                  </a:lnTo>
                  <a:lnTo>
                    <a:pt x="10750" y="113853"/>
                  </a:lnTo>
                  <a:lnTo>
                    <a:pt x="23526" y="155971"/>
                  </a:lnTo>
                  <a:lnTo>
                    <a:pt x="59031" y="191476"/>
                  </a:lnTo>
                  <a:lnTo>
                    <a:pt x="101148" y="204252"/>
                  </a:lnTo>
                  <a:lnTo>
                    <a:pt x="1132342" y="204252"/>
                  </a:lnTo>
                  <a:lnTo>
                    <a:pt x="1126903" y="206819"/>
                  </a:lnTo>
                  <a:lnTo>
                    <a:pt x="1116923" y="210399"/>
                  </a:lnTo>
                  <a:lnTo>
                    <a:pt x="1106740" y="212956"/>
                  </a:lnTo>
                  <a:lnTo>
                    <a:pt x="1096354" y="214491"/>
                  </a:lnTo>
                  <a:lnTo>
                    <a:pt x="1085764" y="215002"/>
                  </a:lnTo>
                  <a:close/>
                </a:path>
                <a:path w="1193800" h="215264">
                  <a:moveTo>
                    <a:pt x="1132342" y="204252"/>
                  </a:moveTo>
                  <a:lnTo>
                    <a:pt x="1092117" y="204252"/>
                  </a:lnTo>
                  <a:lnTo>
                    <a:pt x="1098406" y="203633"/>
                  </a:lnTo>
                  <a:lnTo>
                    <a:pt x="1110865" y="201154"/>
                  </a:lnTo>
                  <a:lnTo>
                    <a:pt x="1149684" y="180406"/>
                  </a:lnTo>
                  <a:lnTo>
                    <a:pt x="1177581" y="138657"/>
                  </a:lnTo>
                  <a:lnTo>
                    <a:pt x="1182515" y="113853"/>
                  </a:lnTo>
                  <a:lnTo>
                    <a:pt x="1182515" y="101148"/>
                  </a:lnTo>
                  <a:lnTo>
                    <a:pt x="1169744" y="59031"/>
                  </a:lnTo>
                  <a:lnTo>
                    <a:pt x="1134236" y="23526"/>
                  </a:lnTo>
                  <a:lnTo>
                    <a:pt x="1092117" y="10750"/>
                  </a:lnTo>
                  <a:lnTo>
                    <a:pt x="1132342" y="10750"/>
                  </a:lnTo>
                  <a:lnTo>
                    <a:pt x="1168905" y="39336"/>
                  </a:lnTo>
                  <a:lnTo>
                    <a:pt x="1188661" y="76341"/>
                  </a:lnTo>
                  <a:lnTo>
                    <a:pt x="1193264" y="107501"/>
                  </a:lnTo>
                  <a:lnTo>
                    <a:pt x="1192752" y="118091"/>
                  </a:lnTo>
                  <a:lnTo>
                    <a:pt x="1180556" y="158228"/>
                  </a:lnTo>
                  <a:lnTo>
                    <a:pt x="1153929" y="190642"/>
                  </a:lnTo>
                  <a:lnTo>
                    <a:pt x="1136491" y="202294"/>
                  </a:lnTo>
                  <a:lnTo>
                    <a:pt x="1132342" y="204252"/>
                  </a:lnTo>
                  <a:close/>
                </a:path>
              </a:pathLst>
            </a:custGeom>
            <a:solidFill>
              <a:srgbClr val="1C2029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020" y="2052922"/>
              <a:ext cx="77378" cy="9672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129656" y="2011200"/>
            <a:ext cx="989330" cy="165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JPEG</a:t>
            </a:r>
            <a:r>
              <a:rPr dirty="0" sz="900" spc="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(MB/rramє)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2035" y="2052922"/>
            <a:ext cx="77378" cy="9672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318892" y="5517796"/>
            <a:ext cx="1003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80">
                <a:solidFill>
                  <a:srgbClr val="3B3434"/>
                </a:solidFill>
                <a:latin typeface="Verdana"/>
                <a:cs typeface="Verdana"/>
              </a:rPr>
              <a:t>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5462" y="5517796"/>
            <a:ext cx="24511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80">
                <a:solidFill>
                  <a:srgbClr val="3B3434"/>
                </a:solidFill>
                <a:latin typeface="Verdana"/>
                <a:cs typeface="Verdana"/>
              </a:rPr>
              <a:t>5OO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7927" y="5517796"/>
            <a:ext cx="1384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95">
                <a:solidFill>
                  <a:srgbClr val="3B3434"/>
                </a:solidFill>
                <a:latin typeface="Verdana"/>
                <a:cs typeface="Verdana"/>
              </a:rPr>
              <a:t>1e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5050" y="5517796"/>
            <a:ext cx="24257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70">
                <a:solidFill>
                  <a:srgbClr val="3B3434"/>
                </a:solidFill>
                <a:latin typeface="Verdana"/>
                <a:cs typeface="Verdana"/>
              </a:rPr>
              <a:t>1.5e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04298" y="5517796"/>
            <a:ext cx="16192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2e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1539" y="5517796"/>
            <a:ext cx="2654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2.5e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61800" y="5517796"/>
            <a:ext cx="16319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3e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13070" y="2789739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4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4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3163" y="2732324"/>
            <a:ext cx="149606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Wєb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prєviєw</a:t>
            </a:r>
            <a:r>
              <a:rPr dirty="0" sz="90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3B3434"/>
                </a:solidFill>
                <a:latin typeface="Verdana"/>
                <a:cs typeface="Verdana"/>
              </a:rPr>
              <a:t>(72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dpi,</a:t>
            </a:r>
            <a:r>
              <a:rPr dirty="0" sz="90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1MP)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3070" y="3397982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56034" y="3340567"/>
            <a:ext cx="114300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Mobilє</a:t>
            </a:r>
            <a:r>
              <a:rPr dirty="0" sz="90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Vision</a:t>
            </a:r>
            <a:r>
              <a:rPr dirty="0" sz="90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(8MP)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13070" y="4006226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56468" y="3948811"/>
            <a:ext cx="124269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Forєnsic/Print</a:t>
            </a: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(24MP)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13070" y="4614467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25475" y="4557052"/>
            <a:ext cx="15735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6єrial</a:t>
            </a:r>
            <a:r>
              <a:rPr dirty="0" sz="900" spc="-5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mapping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tilє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(2OOMP)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13070" y="5222710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45728" y="5165295"/>
            <a:ext cx="145351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Gigapixєl</a:t>
            </a:r>
            <a:r>
              <a:rPr dirty="0" sz="90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3B3434"/>
                </a:solidFill>
                <a:latin typeface="Verdana"/>
                <a:cs typeface="Verdana"/>
              </a:rPr>
              <a:t>panorama</a:t>
            </a:r>
            <a:r>
              <a:rPr dirty="0" sz="90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40">
                <a:solidFill>
                  <a:srgbClr val="3B3434"/>
                </a:solidFill>
                <a:latin typeface="Verdana"/>
                <a:cs typeface="Verdana"/>
              </a:rPr>
              <a:t>(1GP)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5475" y="2011200"/>
            <a:ext cx="1151890" cy="4286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15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Raw</a:t>
            </a:r>
            <a:r>
              <a:rPr dirty="0" sz="900" spc="-5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(MB/rramє)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Capturє</a:t>
            </a:r>
            <a:r>
              <a:rPr dirty="0" sz="900" spc="-1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Scєnario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3573" y="2485618"/>
            <a:ext cx="4085054" cy="305196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24879" y="6029445"/>
            <a:ext cx="5629275" cy="7874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 indent="349250">
              <a:lnSpc>
                <a:spcPct val="132500"/>
              </a:lnSpc>
              <a:spcBef>
                <a:spcPts val="13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Bars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show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raw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typical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JPEG-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compressed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sizes.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Note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ratios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vary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scene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complexity;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textured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scenes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efficiently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than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smooth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ones.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2300" y="2000250"/>
            <a:ext cx="3829049" cy="382904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960495" y="5953245"/>
            <a:ext cx="3778250" cy="10445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349250">
              <a:lnSpc>
                <a:spcPct val="133300"/>
              </a:lnSpc>
              <a:spcBef>
                <a:spcPts val="12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Visual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comparison: </a:t>
            </a: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low-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images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enable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fast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access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low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but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lose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fine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details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needed</a:t>
            </a:r>
            <a:r>
              <a:rPr dirty="0" sz="1250" spc="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identification.</a:t>
            </a:r>
            <a:r>
              <a:rPr dirty="0" sz="1250" spc="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High-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captures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retain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detail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heavy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cost.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879" y="7296270"/>
            <a:ext cx="976312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35000"/>
              </a:lnSpc>
              <a:spcBef>
                <a:spcPts val="100"/>
              </a:spcBef>
            </a:pP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Use-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case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mapping: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by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smallest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you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analyze,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select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match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retention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and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requirements.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37" name="object 37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77914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3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45"/>
              <a:t>Strategic</a:t>
            </a:r>
            <a:r>
              <a:rPr dirty="0" spc="-85"/>
              <a:t> </a:t>
            </a:r>
            <a:r>
              <a:rPr dirty="0"/>
              <a:t>Trade-</a:t>
            </a:r>
            <a:r>
              <a:rPr dirty="0" spc="70"/>
              <a:t>offs</a:t>
            </a:r>
            <a:r>
              <a:rPr dirty="0" spc="-85"/>
              <a:t> </a:t>
            </a:r>
            <a:r>
              <a:rPr dirty="0" spc="-20"/>
              <a:t>in</a:t>
            </a:r>
            <a:r>
              <a:rPr dirty="0" spc="-85"/>
              <a:t> </a:t>
            </a:r>
            <a:r>
              <a:rPr dirty="0" spc="5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9" y="1219320"/>
            <a:ext cx="968438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Successful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combine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policies,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intelligent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multi-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tiered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Below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strategic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patterns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observed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in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production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computer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vision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deployments.</a:t>
            </a:r>
            <a:endParaRPr sz="1250">
              <a:latin typeface="Roboto Lt"/>
              <a:cs typeface="Roboto L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8078" y="1962857"/>
            <a:ext cx="358775" cy="416559"/>
            <a:chOff x="658078" y="1962857"/>
            <a:chExt cx="358775" cy="416559"/>
          </a:xfrm>
        </p:grpSpPr>
        <p:sp>
          <p:nvSpPr>
            <p:cNvPr id="5" name="object 5"/>
            <p:cNvSpPr/>
            <p:nvPr/>
          </p:nvSpPr>
          <p:spPr>
            <a:xfrm>
              <a:off x="725089" y="2133631"/>
              <a:ext cx="283210" cy="234950"/>
            </a:xfrm>
            <a:custGeom>
              <a:avLst/>
              <a:gdLst/>
              <a:ahLst/>
              <a:cxnLst/>
              <a:rect l="l" t="t" r="r" b="b"/>
              <a:pathLst>
                <a:path w="283209" h="234950">
                  <a:moveTo>
                    <a:pt x="281286" y="97624"/>
                  </a:moveTo>
                  <a:lnTo>
                    <a:pt x="246671" y="119022"/>
                  </a:lnTo>
                  <a:lnTo>
                    <a:pt x="200588" y="132935"/>
                  </a:lnTo>
                  <a:lnTo>
                    <a:pt x="172154" y="137309"/>
                  </a:lnTo>
                  <a:lnTo>
                    <a:pt x="163237" y="138431"/>
                  </a:lnTo>
                </a:path>
                <a:path w="283209" h="234950">
                  <a:moveTo>
                    <a:pt x="281753" y="0"/>
                  </a:moveTo>
                  <a:lnTo>
                    <a:pt x="249212" y="21791"/>
                  </a:lnTo>
                  <a:lnTo>
                    <a:pt x="202629" y="36053"/>
                  </a:lnTo>
                  <a:lnTo>
                    <a:pt x="153850" y="42856"/>
                  </a:lnTo>
                  <a:lnTo>
                    <a:pt x="139268" y="44094"/>
                  </a:lnTo>
                  <a:lnTo>
                    <a:pt x="129439" y="44487"/>
                  </a:lnTo>
                </a:path>
                <a:path w="283209" h="234950">
                  <a:moveTo>
                    <a:pt x="92159" y="44412"/>
                  </a:moveTo>
                  <a:lnTo>
                    <a:pt x="72339" y="42798"/>
                  </a:lnTo>
                  <a:lnTo>
                    <a:pt x="53888" y="40839"/>
                  </a:lnTo>
                  <a:lnTo>
                    <a:pt x="36496" y="38498"/>
                  </a:lnTo>
                  <a:lnTo>
                    <a:pt x="19851" y="35736"/>
                  </a:lnTo>
                  <a:lnTo>
                    <a:pt x="0" y="30627"/>
                  </a:lnTo>
                </a:path>
                <a:path w="283209" h="234950">
                  <a:moveTo>
                    <a:pt x="282764" y="169217"/>
                  </a:moveTo>
                  <a:lnTo>
                    <a:pt x="261831" y="205383"/>
                  </a:lnTo>
                  <a:lnTo>
                    <a:pt x="226123" y="221201"/>
                  </a:lnTo>
                  <a:lnTo>
                    <a:pt x="187780" y="230285"/>
                  </a:lnTo>
                  <a:lnTo>
                    <a:pt x="166126" y="233598"/>
                  </a:lnTo>
                  <a:lnTo>
                    <a:pt x="152959" y="234842"/>
                  </a:lnTo>
                </a:path>
              </a:pathLst>
            </a:custGeom>
            <a:ln w="17654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207" y="2269168"/>
              <a:ext cx="123436" cy="1054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6905" y="1971685"/>
              <a:ext cx="340995" cy="398780"/>
            </a:xfrm>
            <a:custGeom>
              <a:avLst/>
              <a:gdLst/>
              <a:ahLst/>
              <a:cxnLst/>
              <a:rect l="l" t="t" r="r" b="b"/>
              <a:pathLst>
                <a:path w="340994" h="398780">
                  <a:moveTo>
                    <a:pt x="149" y="84249"/>
                  </a:moveTo>
                  <a:lnTo>
                    <a:pt x="244" y="73271"/>
                  </a:lnTo>
                  <a:lnTo>
                    <a:pt x="262" y="63419"/>
                  </a:lnTo>
                  <a:lnTo>
                    <a:pt x="367" y="55287"/>
                  </a:lnTo>
                  <a:lnTo>
                    <a:pt x="24769" y="24578"/>
                  </a:lnTo>
                  <a:lnTo>
                    <a:pt x="69208" y="9456"/>
                  </a:lnTo>
                  <a:lnTo>
                    <a:pt x="111170" y="2926"/>
                  </a:lnTo>
                  <a:lnTo>
                    <a:pt x="159423" y="94"/>
                  </a:lnTo>
                  <a:lnTo>
                    <a:pt x="175126" y="0"/>
                  </a:lnTo>
                  <a:lnTo>
                    <a:pt x="190513" y="252"/>
                  </a:lnTo>
                  <a:lnTo>
                    <a:pt x="233279" y="3246"/>
                  </a:lnTo>
                  <a:lnTo>
                    <a:pt x="274610" y="10265"/>
                  </a:lnTo>
                  <a:lnTo>
                    <a:pt x="315644" y="24351"/>
                  </a:lnTo>
                  <a:lnTo>
                    <a:pt x="340517" y="55405"/>
                  </a:lnTo>
                  <a:lnTo>
                    <a:pt x="340844" y="76909"/>
                  </a:lnTo>
                  <a:lnTo>
                    <a:pt x="340904" y="93444"/>
                  </a:lnTo>
                </a:path>
                <a:path w="340994" h="398780">
                  <a:moveTo>
                    <a:pt x="340908" y="258545"/>
                  </a:moveTo>
                  <a:lnTo>
                    <a:pt x="340947" y="331164"/>
                  </a:lnTo>
                </a:path>
                <a:path w="340994" h="398780">
                  <a:moveTo>
                    <a:pt x="340895" y="161190"/>
                  </a:moveTo>
                  <a:lnTo>
                    <a:pt x="339470" y="259571"/>
                  </a:lnTo>
                </a:path>
                <a:path w="340994" h="398780">
                  <a:moveTo>
                    <a:pt x="340888" y="67834"/>
                  </a:moveTo>
                  <a:lnTo>
                    <a:pt x="324363" y="79711"/>
                  </a:lnTo>
                  <a:lnTo>
                    <a:pt x="306740" y="89164"/>
                  </a:lnTo>
                  <a:lnTo>
                    <a:pt x="288017" y="96194"/>
                  </a:lnTo>
                  <a:lnTo>
                    <a:pt x="268196" y="100801"/>
                  </a:lnTo>
                </a:path>
                <a:path w="340994" h="398780">
                  <a:moveTo>
                    <a:pt x="221420" y="300378"/>
                  </a:moveTo>
                  <a:lnTo>
                    <a:pt x="185222" y="302458"/>
                  </a:lnTo>
                  <a:lnTo>
                    <a:pt x="149021" y="302297"/>
                  </a:lnTo>
                  <a:lnTo>
                    <a:pt x="112818" y="299485"/>
                  </a:lnTo>
                  <a:lnTo>
                    <a:pt x="76616" y="293613"/>
                  </a:lnTo>
                </a:path>
                <a:path w="340994" h="398780">
                  <a:moveTo>
                    <a:pt x="76684" y="293163"/>
                  </a:moveTo>
                  <a:lnTo>
                    <a:pt x="55570" y="288497"/>
                  </a:lnTo>
                  <a:lnTo>
                    <a:pt x="35751" y="281030"/>
                  </a:lnTo>
                  <a:lnTo>
                    <a:pt x="17228" y="270763"/>
                  </a:lnTo>
                  <a:lnTo>
                    <a:pt x="0" y="257695"/>
                  </a:lnTo>
                </a:path>
                <a:path w="340994" h="398780">
                  <a:moveTo>
                    <a:pt x="211142" y="396788"/>
                  </a:moveTo>
                  <a:lnTo>
                    <a:pt x="184837" y="398173"/>
                  </a:lnTo>
                  <a:lnTo>
                    <a:pt x="158545" y="398283"/>
                  </a:lnTo>
                  <a:lnTo>
                    <a:pt x="132244" y="396982"/>
                  </a:lnTo>
                  <a:lnTo>
                    <a:pt x="105911" y="394132"/>
                  </a:lnTo>
                </a:path>
                <a:path w="340994" h="398780">
                  <a:moveTo>
                    <a:pt x="129" y="306310"/>
                  </a:moveTo>
                  <a:lnTo>
                    <a:pt x="149" y="84249"/>
                  </a:lnTo>
                </a:path>
                <a:path w="340994" h="398780">
                  <a:moveTo>
                    <a:pt x="187622" y="206434"/>
                  </a:moveTo>
                  <a:lnTo>
                    <a:pt x="150343" y="206359"/>
                  </a:lnTo>
                </a:path>
                <a:path w="340994" h="398780">
                  <a:moveTo>
                    <a:pt x="340904" y="93444"/>
                  </a:moveTo>
                  <a:lnTo>
                    <a:pt x="339937" y="161946"/>
                  </a:lnTo>
                </a:path>
                <a:path w="340994" h="398780">
                  <a:moveTo>
                    <a:pt x="58231" y="192383"/>
                  </a:moveTo>
                  <a:lnTo>
                    <a:pt x="42277" y="187340"/>
                  </a:lnTo>
                  <a:lnTo>
                    <a:pt x="27302" y="180474"/>
                  </a:lnTo>
                  <a:lnTo>
                    <a:pt x="13306" y="171784"/>
                  </a:lnTo>
                  <a:lnTo>
                    <a:pt x="289" y="161271"/>
                  </a:lnTo>
                </a:path>
                <a:path w="340994" h="398780">
                  <a:moveTo>
                    <a:pt x="268246" y="101099"/>
                  </a:moveTo>
                  <a:lnTo>
                    <a:pt x="220519" y="108669"/>
                  </a:lnTo>
                  <a:lnTo>
                    <a:pt x="172790" y="111503"/>
                  </a:lnTo>
                  <a:lnTo>
                    <a:pt x="125063" y="109459"/>
                  </a:lnTo>
                  <a:lnTo>
                    <a:pt x="77340" y="102392"/>
                  </a:lnTo>
                </a:path>
                <a:path w="340994" h="398780">
                  <a:moveTo>
                    <a:pt x="77393" y="102061"/>
                  </a:moveTo>
                  <a:lnTo>
                    <a:pt x="56576" y="97483"/>
                  </a:lnTo>
                  <a:lnTo>
                    <a:pt x="36772" y="90510"/>
                  </a:lnTo>
                  <a:lnTo>
                    <a:pt x="17982" y="81144"/>
                  </a:lnTo>
                  <a:lnTo>
                    <a:pt x="206" y="69383"/>
                  </a:lnTo>
                </a:path>
              </a:pathLst>
            </a:custGeom>
            <a:ln w="17654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24879" y="2552573"/>
            <a:ext cx="4682490" cy="1083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Tiered</a:t>
            </a:r>
            <a:r>
              <a:rPr dirty="0" sz="1450" spc="2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Storage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raw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high-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fidelity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files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immediate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analysis;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warm/cold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archives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downsampled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long-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term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retention.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1073" y="1968305"/>
            <a:ext cx="416473" cy="4052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01864" y="2552573"/>
            <a:ext cx="4683760" cy="826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ROI</a:t>
            </a:r>
            <a:r>
              <a:rPr dirty="0" sz="1450" spc="-1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&amp;</a:t>
            </a:r>
            <a:r>
              <a:rPr dirty="0" sz="1450" spc="-1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Selective</a:t>
            </a:r>
            <a:r>
              <a:rPr dirty="0" sz="1450" spc="-1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Capture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full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only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regions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interest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(ROI)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smart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cameras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post-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cropping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reduce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global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needs.</a:t>
            </a:r>
            <a:endParaRPr sz="1250">
              <a:latin typeface="Roboto Lt"/>
              <a:cs typeface="Roboto L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9347" y="4036237"/>
            <a:ext cx="416559" cy="288925"/>
            <a:chOff x="629347" y="4036237"/>
            <a:chExt cx="416559" cy="288925"/>
          </a:xfrm>
        </p:grpSpPr>
        <p:sp>
          <p:nvSpPr>
            <p:cNvPr id="12" name="object 12"/>
            <p:cNvSpPr/>
            <p:nvPr/>
          </p:nvSpPr>
          <p:spPr>
            <a:xfrm>
              <a:off x="907287" y="4122013"/>
              <a:ext cx="129539" cy="132080"/>
            </a:xfrm>
            <a:custGeom>
              <a:avLst/>
              <a:gdLst/>
              <a:ahLst/>
              <a:cxnLst/>
              <a:rect l="l" t="t" r="r" b="b"/>
              <a:pathLst>
                <a:path w="129540" h="132079">
                  <a:moveTo>
                    <a:pt x="0" y="0"/>
                  </a:moveTo>
                  <a:lnTo>
                    <a:pt x="46627" y="347"/>
                  </a:lnTo>
                  <a:lnTo>
                    <a:pt x="89422" y="14859"/>
                  </a:lnTo>
                  <a:lnTo>
                    <a:pt x="125104" y="34911"/>
                  </a:lnTo>
                  <a:lnTo>
                    <a:pt x="129081" y="80960"/>
                  </a:lnTo>
                  <a:lnTo>
                    <a:pt x="129274" y="131804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94" y="4144709"/>
              <a:ext cx="176309" cy="829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8174" y="4045064"/>
              <a:ext cx="307340" cy="209550"/>
            </a:xfrm>
            <a:custGeom>
              <a:avLst/>
              <a:gdLst/>
              <a:ahLst/>
              <a:cxnLst/>
              <a:rect l="l" t="t" r="r" b="b"/>
              <a:pathLst>
                <a:path w="307340" h="209550">
                  <a:moveTo>
                    <a:pt x="269113" y="76949"/>
                  </a:moveTo>
                  <a:lnTo>
                    <a:pt x="268686" y="83287"/>
                  </a:lnTo>
                  <a:lnTo>
                    <a:pt x="268666" y="94829"/>
                  </a:lnTo>
                  <a:lnTo>
                    <a:pt x="268318" y="100011"/>
                  </a:lnTo>
                  <a:lnTo>
                    <a:pt x="252462" y="116602"/>
                  </a:lnTo>
                  <a:lnTo>
                    <a:pt x="243836" y="116679"/>
                  </a:lnTo>
                </a:path>
                <a:path w="307340" h="209550">
                  <a:moveTo>
                    <a:pt x="306836" y="26320"/>
                  </a:moveTo>
                  <a:lnTo>
                    <a:pt x="296918" y="511"/>
                  </a:lnTo>
                  <a:lnTo>
                    <a:pt x="294647" y="311"/>
                  </a:lnTo>
                </a:path>
                <a:path w="307340" h="209550">
                  <a:moveTo>
                    <a:pt x="249276" y="91"/>
                  </a:moveTo>
                  <a:lnTo>
                    <a:pt x="242054" y="0"/>
                  </a:lnTo>
                  <a:lnTo>
                    <a:pt x="238806" y="326"/>
                  </a:lnTo>
                  <a:lnTo>
                    <a:pt x="229953" y="482"/>
                  </a:lnTo>
                  <a:lnTo>
                    <a:pt x="209476" y="284"/>
                  </a:lnTo>
                </a:path>
                <a:path w="307340" h="209550">
                  <a:moveTo>
                    <a:pt x="250761" y="209025"/>
                  </a:moveTo>
                  <a:lnTo>
                    <a:pt x="0" y="209267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231" y="4245429"/>
              <a:ext cx="175291" cy="79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289" y="4173970"/>
              <a:ext cx="165126" cy="1483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8174" y="4218704"/>
              <a:ext cx="257175" cy="36195"/>
            </a:xfrm>
            <a:custGeom>
              <a:avLst/>
              <a:gdLst/>
              <a:ahLst/>
              <a:cxnLst/>
              <a:rect l="l" t="t" r="r" b="b"/>
              <a:pathLst>
                <a:path w="257175" h="36195">
                  <a:moveTo>
                    <a:pt x="256931" y="1404"/>
                  </a:moveTo>
                  <a:lnTo>
                    <a:pt x="43" y="0"/>
                  </a:lnTo>
                  <a:lnTo>
                    <a:pt x="0" y="35627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071" y="4036328"/>
              <a:ext cx="154343" cy="24319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24879" y="4562347"/>
            <a:ext cx="4629785" cy="826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Adaptive</a:t>
            </a:r>
            <a:r>
              <a:rPr dirty="0" sz="1450" spc="10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Compression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allow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scalable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quality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(JPEG2000,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HEIF,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AVIF)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and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adjust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bitrates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based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motion,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importance,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scene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content.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01440" y="4038512"/>
            <a:ext cx="416057" cy="28431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801864" y="4562347"/>
            <a:ext cx="4972685" cy="826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55">
                <a:solidFill>
                  <a:srgbClr val="3B3434"/>
                </a:solidFill>
                <a:latin typeface="Tahoma"/>
                <a:cs typeface="Tahoma"/>
              </a:rPr>
              <a:t>Edge</a:t>
            </a:r>
            <a:r>
              <a:rPr dirty="0" sz="1450" spc="-11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Processing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Perform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pre-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filtering,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event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detection,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extraction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edge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so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only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essential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frames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metadata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sent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central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3723" y="5609621"/>
            <a:ext cx="1009459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Combining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strategies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yields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provide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analytic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fidelity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where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matters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while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keeping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bandwidth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costs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manageable.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23" name="object 23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781800"/>
          </a:xfrm>
          <a:custGeom>
            <a:avLst/>
            <a:gdLst/>
            <a:ahLst/>
            <a:cxnLst/>
            <a:rect l="l" t="t" r="r" b="b"/>
            <a:pathLst>
              <a:path w="11430000" h="6781800">
                <a:moveTo>
                  <a:pt x="11430000" y="6781800"/>
                </a:moveTo>
                <a:lnTo>
                  <a:pt x="0" y="67818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7818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6781800"/>
            <a:chOff x="7143750" y="0"/>
            <a:chExt cx="4286250" cy="6781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781799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62674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95"/>
              </a:spcBef>
            </a:pPr>
            <a:r>
              <a:rPr dirty="0"/>
              <a:t>Conclusion:</a:t>
            </a:r>
            <a:r>
              <a:rPr dirty="0" spc="75"/>
              <a:t> </a:t>
            </a:r>
            <a:r>
              <a:rPr dirty="0"/>
              <a:t>Aligning</a:t>
            </a:r>
            <a:r>
              <a:rPr dirty="0" spc="75"/>
              <a:t> </a:t>
            </a:r>
            <a:r>
              <a:rPr dirty="0"/>
              <a:t>Resolution</a:t>
            </a:r>
            <a:r>
              <a:rPr dirty="0" spc="75"/>
              <a:t> </a:t>
            </a:r>
            <a:r>
              <a:rPr dirty="0" spc="-20"/>
              <a:t>with </a:t>
            </a:r>
            <a:r>
              <a:rPr dirty="0" spc="45"/>
              <a:t>Purpose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38175" y="5448300"/>
            <a:ext cx="5867400" cy="895350"/>
            <a:chOff x="638175" y="5448300"/>
            <a:chExt cx="5867400" cy="895350"/>
          </a:xfrm>
        </p:grpSpPr>
        <p:sp>
          <p:nvSpPr>
            <p:cNvPr id="8" name="object 8"/>
            <p:cNvSpPr/>
            <p:nvPr/>
          </p:nvSpPr>
          <p:spPr>
            <a:xfrm>
              <a:off x="638175" y="5448300"/>
              <a:ext cx="5867400" cy="895350"/>
            </a:xfrm>
            <a:custGeom>
              <a:avLst/>
              <a:gdLst/>
              <a:ahLst/>
              <a:cxnLst/>
              <a:rect l="l" t="t" r="r" b="b"/>
              <a:pathLst>
                <a:path w="5867400" h="895350">
                  <a:moveTo>
                    <a:pt x="5850121" y="895350"/>
                  </a:moveTo>
                  <a:lnTo>
                    <a:pt x="17282" y="895350"/>
                  </a:lnTo>
                  <a:lnTo>
                    <a:pt x="14740" y="894845"/>
                  </a:lnTo>
                  <a:lnTo>
                    <a:pt x="0" y="878071"/>
                  </a:lnTo>
                  <a:lnTo>
                    <a:pt x="0" y="875423"/>
                  </a:lnTo>
                  <a:lnTo>
                    <a:pt x="0" y="17278"/>
                  </a:lnTo>
                  <a:lnTo>
                    <a:pt x="17282" y="0"/>
                  </a:lnTo>
                  <a:lnTo>
                    <a:pt x="5850121" y="0"/>
                  </a:lnTo>
                  <a:lnTo>
                    <a:pt x="5867400" y="17278"/>
                  </a:lnTo>
                  <a:lnTo>
                    <a:pt x="5867400" y="878071"/>
                  </a:lnTo>
                  <a:lnTo>
                    <a:pt x="5852655" y="894845"/>
                  </a:lnTo>
                  <a:lnTo>
                    <a:pt x="5850121" y="895350"/>
                  </a:lnTo>
                  <a:close/>
                </a:path>
              </a:pathLst>
            </a:custGeom>
            <a:solidFill>
              <a:srgbClr val="FAD0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930" y="5686862"/>
              <a:ext cx="139471" cy="1394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9807" y="5715000"/>
              <a:ext cx="88900" cy="1143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24879" y="1371720"/>
            <a:ext cx="5831205" cy="475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3975" indent="193675">
              <a:lnSpc>
                <a:spcPct val="135000"/>
              </a:lnSpc>
              <a:spcBef>
                <a:spcPts val="100"/>
              </a:spcBef>
              <a:tabLst>
                <a:tab pos="244157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future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will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deliver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ever-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counts,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but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practical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success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depends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on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matching resolution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task,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employing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intelligent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compression,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designing storage architectures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scale.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	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Recommendations:</a:t>
            </a:r>
            <a:endParaRPr sz="1250">
              <a:latin typeface="Roboto Lt"/>
              <a:cs typeface="Roboto Lt"/>
            </a:endParaRPr>
          </a:p>
          <a:p>
            <a:pPr marL="267335" marR="390525" indent="-255270">
              <a:lnSpc>
                <a:spcPct val="135000"/>
              </a:lnSpc>
              <a:spcBef>
                <a:spcPts val="1350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Start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from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task: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define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smallest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resolvable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required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your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model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analyst.</a:t>
            </a:r>
            <a:endParaRPr sz="1250">
              <a:latin typeface="Roboto Lt"/>
              <a:cs typeface="Roboto Lt"/>
            </a:endParaRPr>
          </a:p>
          <a:p>
            <a:pPr marL="267335" marR="193675" indent="-255270">
              <a:lnSpc>
                <a:spcPct val="130000"/>
              </a:lnSpc>
              <a:spcBef>
                <a:spcPts val="525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minimal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sensor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optics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combination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reliably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resolves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that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feature.</a:t>
            </a:r>
            <a:endParaRPr sz="1250">
              <a:latin typeface="Roboto Lt"/>
              <a:cs typeface="Roboto Lt"/>
            </a:endParaRPr>
          </a:p>
          <a:p>
            <a:pPr marL="267335" marR="5080" indent="-255270">
              <a:lnSpc>
                <a:spcPct val="135000"/>
              </a:lnSpc>
              <a:spcBef>
                <a:spcPts val="450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Adopt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ROI-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based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scalable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focus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delivers value.</a:t>
            </a:r>
            <a:endParaRPr sz="1250">
              <a:latin typeface="Roboto Lt"/>
              <a:cs typeface="Roboto Lt"/>
            </a:endParaRPr>
          </a:p>
          <a:p>
            <a:pPr marL="267335" marR="146050" indent="-255270">
              <a:lnSpc>
                <a:spcPct val="135000"/>
              </a:lnSpc>
              <a:spcBef>
                <a:spcPts val="375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Architect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edge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limit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bandwidth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long-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term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costs.</a:t>
            </a:r>
            <a:endParaRPr sz="1250">
              <a:latin typeface="Roboto Lt"/>
              <a:cs typeface="Roboto Lt"/>
            </a:endParaRPr>
          </a:p>
          <a:p>
            <a:pPr marL="12700" marR="146050" indent="193675">
              <a:lnSpc>
                <a:spcPct val="130000"/>
              </a:lnSpc>
              <a:spcBef>
                <a:spcPts val="150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deliberate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trade-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offs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modern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codecs,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teams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achieve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analytic accuracy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without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unsustainable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overhead.</a:t>
            </a:r>
            <a:endParaRPr sz="125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250">
              <a:latin typeface="Roboto Lt"/>
              <a:cs typeface="Roboto Lt"/>
            </a:endParaRPr>
          </a:p>
          <a:p>
            <a:pPr marL="530225" marR="456565" indent="38735">
              <a:lnSpc>
                <a:spcPct val="135000"/>
              </a:lnSpc>
              <a:tabLst>
                <a:tab pos="2120900" algn="l"/>
              </a:tabLst>
            </a:pPr>
            <a:r>
              <a:rPr dirty="0" sz="1250">
                <a:latin typeface="Roboto Lt"/>
                <a:cs typeface="Roboto Lt"/>
              </a:rPr>
              <a:t>Theme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accent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color:</a:t>
            </a:r>
            <a:r>
              <a:rPr dirty="0" sz="1250">
                <a:latin typeface="Roboto Lt"/>
                <a:cs typeface="Roboto Lt"/>
              </a:rPr>
              <a:t>	F5A3A3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—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use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this</a:t>
            </a:r>
            <a:r>
              <a:rPr dirty="0" sz="1250" spc="-2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color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for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visual</a:t>
            </a:r>
            <a:r>
              <a:rPr dirty="0" sz="1250" spc="-2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emphasis</a:t>
            </a:r>
            <a:r>
              <a:rPr dirty="0" sz="1250" spc="-25">
                <a:latin typeface="Roboto Lt"/>
                <a:cs typeface="Roboto Lt"/>
              </a:rPr>
              <a:t> in </a:t>
            </a:r>
            <a:r>
              <a:rPr dirty="0" sz="1250" spc="-10">
                <a:latin typeface="Roboto Lt"/>
                <a:cs typeface="Roboto Lt"/>
              </a:rPr>
              <a:t>layouts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and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callouts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when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implementing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the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deck.</a:t>
            </a:r>
            <a:endParaRPr sz="125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2026-07-16T03:30:23Z</dcterms:created>
  <dcterms:modified xsi:type="dcterms:W3CDTF">2026-07-16T03:30:23Z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2026-07-16T00:00:00Z</vt:filetime>
  </property>
  <property fmtid="{D5CDD505-2E9C-101B-9397-08002B2CF9AE}" pid="6" name="Producer">
    <vt:lpwstr>iLovePDF</vt:lpwstr>
  </property>
</Properties>
</file>