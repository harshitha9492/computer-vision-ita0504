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62" r:id="rId2"/>
    <p:sldId id="257" r:id="rId3"/>
    <p:sldId id="256" r:id="rId4"/>
    <p:sldId id="258" r:id="rId5"/>
    <p:sldId id="265" r:id="rId6"/>
    <p:sldId id="264" r:id="rId7"/>
    <p:sldId id="260" r:id="rId8"/>
    <p:sldId id="261" r:id="rId9"/>
    <p:sldId id="263" r:id="rId10"/>
  </p:sldIdLst>
  <p:sldSz cx="11430000" cy="8305800"/>
  <p:notesSz cx="11430000" cy="83058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D66E3E3-7A21-45A7-A88B-11FE8A119B02}" v="561" dt="2026-07-16T04:10:22.584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57250" y="1998027"/>
            <a:ext cx="9715500" cy="135350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350" b="0" i="0">
                <a:solidFill>
                  <a:srgbClr val="1F1D1D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714500" y="3609340"/>
            <a:ext cx="8001000" cy="161131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350" b="0" i="0">
                <a:solidFill>
                  <a:srgbClr val="1F1D1D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350" b="0" i="0">
                <a:solidFill>
                  <a:srgbClr val="1F1D1D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71500" y="1482407"/>
            <a:ext cx="4972050" cy="42538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886450" y="1482407"/>
            <a:ext cx="4972050" cy="42538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7/24/2026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1430000" cy="6438900"/>
          </a:xfrm>
          <a:custGeom>
            <a:avLst/>
            <a:gdLst/>
            <a:ahLst/>
            <a:cxnLst/>
            <a:rect l="l" t="t" r="r" b="b"/>
            <a:pathLst>
              <a:path w="11430000" h="6438900">
                <a:moveTo>
                  <a:pt x="11430000" y="6438900"/>
                </a:moveTo>
                <a:lnTo>
                  <a:pt x="0" y="6438900"/>
                </a:lnTo>
                <a:lnTo>
                  <a:pt x="0" y="0"/>
                </a:lnTo>
                <a:lnTo>
                  <a:pt x="11430000" y="0"/>
                </a:lnTo>
                <a:lnTo>
                  <a:pt x="11430000" y="6438900"/>
                </a:lnTo>
                <a:close/>
              </a:path>
            </a:pathLst>
          </a:custGeom>
          <a:solidFill>
            <a:srgbClr val="FFFAFA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bg 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143750" y="0"/>
            <a:ext cx="4286249" cy="6438899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580245" y="5926073"/>
            <a:ext cx="1754504" cy="41910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350" b="0" i="0">
                <a:solidFill>
                  <a:srgbClr val="1F1D1D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7/24/2026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7/24/2026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1430000" cy="6438900"/>
          </a:xfrm>
          <a:custGeom>
            <a:avLst/>
            <a:gdLst/>
            <a:ahLst/>
            <a:cxnLst/>
            <a:rect l="l" t="t" r="r" b="b"/>
            <a:pathLst>
              <a:path w="11430000" h="6438900">
                <a:moveTo>
                  <a:pt x="11430000" y="6438900"/>
                </a:moveTo>
                <a:lnTo>
                  <a:pt x="0" y="6438900"/>
                </a:lnTo>
                <a:lnTo>
                  <a:pt x="0" y="0"/>
                </a:lnTo>
                <a:lnTo>
                  <a:pt x="11430000" y="0"/>
                </a:lnTo>
                <a:lnTo>
                  <a:pt x="11430000" y="6438900"/>
                </a:lnTo>
                <a:close/>
              </a:path>
            </a:pathLst>
          </a:custGeom>
          <a:solidFill>
            <a:srgbClr val="FFFAF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24879" y="390207"/>
            <a:ext cx="4843145" cy="7874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350" b="0" i="0">
                <a:solidFill>
                  <a:srgbClr val="1F1D1D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71500" y="1482407"/>
            <a:ext cx="10287000" cy="42538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886200" y="5994082"/>
            <a:ext cx="3657600" cy="3222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71500" y="5994082"/>
            <a:ext cx="2628900" cy="3222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229600" y="5994082"/>
            <a:ext cx="2628900" cy="3222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90D723E-B8E3-D1FB-B055-BCA42A8D52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1979" y="1638275"/>
            <a:ext cx="6645567" cy="5601533"/>
          </a:xfrm>
        </p:spPr>
        <p:txBody>
          <a:bodyPr wrap="square" lIns="0" tIns="0" rIns="0" bIns="0" anchor="t">
            <a:spAutoFit/>
          </a:bodyPr>
          <a:lstStyle/>
          <a:p>
            <a:r>
              <a:rPr lang="en-US" sz="3600" dirty="0">
                <a:latin typeface="Times New Roman"/>
                <a:cs typeface="Times New Roman"/>
              </a:rPr>
              <a:t>Trade off analysis between spatial resolution and storage requirements using </a:t>
            </a:r>
            <a:r>
              <a:rPr lang="en-US" sz="3600" dirty="0" err="1">
                <a:latin typeface="Times New Roman"/>
                <a:cs typeface="Times New Roman"/>
              </a:rPr>
              <a:t>comparitive</a:t>
            </a:r>
            <a:r>
              <a:rPr lang="en-US" sz="3600" dirty="0">
                <a:latin typeface="Times New Roman"/>
                <a:cs typeface="Times New Roman"/>
              </a:rPr>
              <a:t> charts and structured communication </a:t>
            </a:r>
            <a:br>
              <a:rPr lang="en-US" sz="3600" dirty="0">
                <a:latin typeface="Times New Roman"/>
                <a:cs typeface="Times New Roman"/>
              </a:rPr>
            </a:br>
            <a:br>
              <a:rPr lang="en-US" sz="3600" dirty="0">
                <a:latin typeface="Times New Roman"/>
                <a:ea typeface="Tahoma"/>
                <a:cs typeface="Times New Roman"/>
              </a:rPr>
            </a:br>
            <a:br>
              <a:rPr lang="en-US" sz="3600" dirty="0">
                <a:latin typeface="Times New Roman"/>
                <a:ea typeface="Tahoma"/>
                <a:cs typeface="Times New Roman"/>
              </a:rPr>
            </a:br>
            <a:br>
              <a:rPr lang="en-US" sz="3600" dirty="0">
                <a:latin typeface="Times New Roman"/>
                <a:ea typeface="Tahoma"/>
                <a:cs typeface="Times New Roman"/>
              </a:rPr>
            </a:br>
            <a:br>
              <a:rPr lang="en-US" sz="3600" dirty="0">
                <a:latin typeface="Times New Roman"/>
                <a:ea typeface="Tahoma"/>
                <a:cs typeface="Times New Roman"/>
              </a:rPr>
            </a:br>
            <a:br>
              <a:rPr lang="en-US" sz="3600" dirty="0">
                <a:latin typeface="Times New Roman"/>
                <a:ea typeface="Tahoma"/>
                <a:cs typeface="Times New Roman"/>
              </a:rPr>
            </a:br>
            <a:r>
              <a:rPr lang="en-US" sz="2000" dirty="0">
                <a:latin typeface="Times New Roman"/>
                <a:ea typeface="Tahoma"/>
                <a:cs typeface="Times New Roman"/>
              </a:rPr>
              <a:t>                                                     VENUMBAKA HARSHITHA </a:t>
            </a:r>
            <a:br>
              <a:rPr lang="en-US" sz="2000" dirty="0">
                <a:latin typeface="Times New Roman"/>
                <a:ea typeface="Tahoma"/>
                <a:cs typeface="Times New Roman"/>
              </a:rPr>
            </a:br>
            <a:r>
              <a:rPr lang="en-US" sz="2000" dirty="0">
                <a:latin typeface="Times New Roman"/>
                <a:ea typeface="Tahoma"/>
                <a:cs typeface="Times New Roman"/>
              </a:rPr>
              <a:t>                                                     192371055</a:t>
            </a:r>
          </a:p>
        </p:txBody>
      </p:sp>
    </p:spTree>
    <p:extLst>
      <p:ext uri="{BB962C8B-B14F-4D97-AF65-F5344CB8AC3E}">
        <p14:creationId xmlns:p14="http://schemas.microsoft.com/office/powerpoint/2010/main" val="31701296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624879" y="879520"/>
            <a:ext cx="5370439" cy="506549"/>
          </a:xfrm>
          <a:prstGeom prst="rect">
            <a:avLst/>
          </a:prstGeom>
        </p:spPr>
        <p:txBody>
          <a:bodyPr vert="horz" wrap="square" lIns="0" tIns="13970" rIns="0" bIns="0" rtlCol="0" anchor="t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3200" b="1" dirty="0">
                <a:latin typeface="Times New Roman"/>
                <a:cs typeface="Times New Roman"/>
              </a:rPr>
              <a:t>What</a:t>
            </a:r>
            <a:r>
              <a:rPr sz="3200" b="1" spc="-85" dirty="0">
                <a:latin typeface="Times New Roman"/>
                <a:cs typeface="Times New Roman"/>
              </a:rPr>
              <a:t> </a:t>
            </a:r>
            <a:r>
              <a:rPr sz="3200" b="1" spc="-10" dirty="0">
                <a:latin typeface="Times New Roman"/>
                <a:cs typeface="Times New Roman"/>
              </a:rPr>
              <a:t>is</a:t>
            </a:r>
            <a:r>
              <a:rPr sz="3200" b="1" spc="-80" dirty="0">
                <a:latin typeface="Times New Roman"/>
                <a:cs typeface="Times New Roman"/>
              </a:rPr>
              <a:t> </a:t>
            </a:r>
            <a:r>
              <a:rPr sz="3200" b="1" dirty="0">
                <a:latin typeface="Times New Roman"/>
                <a:cs typeface="Times New Roman"/>
              </a:rPr>
              <a:t>Spatial</a:t>
            </a:r>
            <a:r>
              <a:rPr sz="3200" b="1" spc="-80" dirty="0">
                <a:latin typeface="Times New Roman"/>
                <a:cs typeface="Times New Roman"/>
              </a:rPr>
              <a:t> </a:t>
            </a:r>
            <a:r>
              <a:rPr sz="3200" b="1" spc="-10" dirty="0">
                <a:latin typeface="Times New Roman"/>
                <a:cs typeface="Times New Roman"/>
              </a:rPr>
              <a:t>Resolution?</a:t>
            </a:r>
            <a:endParaRPr lang="en-US" sz="3200" b="1" spc="-1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69902" y="1659063"/>
            <a:ext cx="10792948" cy="1954702"/>
          </a:xfrm>
          <a:prstGeom prst="rect">
            <a:avLst/>
          </a:prstGeom>
        </p:spPr>
        <p:txBody>
          <a:bodyPr vert="horz" wrap="square" lIns="0" tIns="12700" rIns="0" bIns="0" rtlCol="0" anchor="t">
            <a:spAutoFit/>
          </a:bodyPr>
          <a:lstStyle/>
          <a:p>
            <a:pPr marL="12700" marR="5080" indent="193675">
              <a:lnSpc>
                <a:spcPct val="135000"/>
              </a:lnSpc>
              <a:spcBef>
                <a:spcPts val="100"/>
              </a:spcBef>
              <a:tabLst>
                <a:tab pos="8919845" algn="l"/>
              </a:tabLst>
            </a:pPr>
            <a:r>
              <a:rPr sz="2400" dirty="0">
                <a:solidFill>
                  <a:srgbClr val="3B3434"/>
                </a:solidFill>
                <a:latin typeface="Times New Roman"/>
                <a:cs typeface="Times New Roman"/>
              </a:rPr>
              <a:t>Spatial</a:t>
            </a:r>
            <a:r>
              <a:rPr sz="2400" spc="-30" dirty="0">
                <a:solidFill>
                  <a:srgbClr val="3B3434"/>
                </a:solidFill>
                <a:latin typeface="Times New Roman"/>
                <a:cs typeface="Times New Roman"/>
              </a:rPr>
              <a:t> </a:t>
            </a:r>
            <a:r>
              <a:rPr sz="2400" spc="-10" dirty="0">
                <a:solidFill>
                  <a:srgbClr val="3B3434"/>
                </a:solidFill>
                <a:latin typeface="Times New Roman"/>
                <a:cs typeface="Times New Roman"/>
              </a:rPr>
              <a:t>resolution</a:t>
            </a:r>
            <a:r>
              <a:rPr sz="2400" spc="-30" dirty="0">
                <a:solidFill>
                  <a:srgbClr val="3B3434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3B3434"/>
                </a:solidFill>
                <a:latin typeface="Times New Roman"/>
                <a:cs typeface="Times New Roman"/>
              </a:rPr>
              <a:t>describes</a:t>
            </a:r>
            <a:r>
              <a:rPr sz="2400" spc="-25" dirty="0">
                <a:solidFill>
                  <a:srgbClr val="3B3434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3B3434"/>
                </a:solidFill>
                <a:latin typeface="Times New Roman"/>
                <a:cs typeface="Times New Roman"/>
              </a:rPr>
              <a:t>a</a:t>
            </a:r>
            <a:r>
              <a:rPr sz="2400" spc="-30" dirty="0">
                <a:solidFill>
                  <a:srgbClr val="3B3434"/>
                </a:solidFill>
                <a:latin typeface="Times New Roman"/>
                <a:cs typeface="Times New Roman"/>
              </a:rPr>
              <a:t> </a:t>
            </a:r>
            <a:r>
              <a:rPr sz="2400" spc="-25" dirty="0">
                <a:solidFill>
                  <a:srgbClr val="3B3434"/>
                </a:solidFill>
                <a:latin typeface="Times New Roman"/>
                <a:cs typeface="Times New Roman"/>
              </a:rPr>
              <a:t>system's</a:t>
            </a:r>
            <a:r>
              <a:rPr sz="2400" spc="-30" dirty="0">
                <a:solidFill>
                  <a:srgbClr val="3B3434"/>
                </a:solidFill>
                <a:latin typeface="Times New Roman"/>
                <a:cs typeface="Times New Roman"/>
              </a:rPr>
              <a:t> </a:t>
            </a:r>
            <a:r>
              <a:rPr sz="2400" spc="-10" dirty="0">
                <a:solidFill>
                  <a:srgbClr val="3B3434"/>
                </a:solidFill>
                <a:latin typeface="Times New Roman"/>
                <a:cs typeface="Times New Roman"/>
              </a:rPr>
              <a:t>ability</a:t>
            </a:r>
            <a:r>
              <a:rPr sz="2400" spc="-25" dirty="0">
                <a:solidFill>
                  <a:srgbClr val="3B3434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3B3434"/>
                </a:solidFill>
                <a:latin typeface="Times New Roman"/>
                <a:cs typeface="Times New Roman"/>
              </a:rPr>
              <a:t>to</a:t>
            </a:r>
            <a:r>
              <a:rPr sz="2400" spc="-30" dirty="0">
                <a:solidFill>
                  <a:srgbClr val="3B3434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3B3434"/>
                </a:solidFill>
                <a:latin typeface="Times New Roman"/>
                <a:cs typeface="Times New Roman"/>
              </a:rPr>
              <a:t>resolve</a:t>
            </a:r>
            <a:r>
              <a:rPr sz="2400" spc="-25" dirty="0">
                <a:solidFill>
                  <a:srgbClr val="3B3434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3B3434"/>
                </a:solidFill>
                <a:latin typeface="Times New Roman"/>
                <a:cs typeface="Times New Roman"/>
              </a:rPr>
              <a:t>fine</a:t>
            </a:r>
            <a:r>
              <a:rPr sz="2400" spc="-30" dirty="0">
                <a:solidFill>
                  <a:srgbClr val="3B3434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3B3434"/>
                </a:solidFill>
                <a:latin typeface="Times New Roman"/>
                <a:cs typeface="Times New Roman"/>
              </a:rPr>
              <a:t>detail</a:t>
            </a:r>
            <a:r>
              <a:rPr sz="2400" spc="-30" dirty="0">
                <a:solidFill>
                  <a:srgbClr val="3B3434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3B3434"/>
                </a:solidFill>
                <a:latin typeface="Times New Roman"/>
                <a:cs typeface="Times New Roman"/>
              </a:rPr>
              <a:t>—</a:t>
            </a:r>
            <a:r>
              <a:rPr sz="2400" spc="-25" dirty="0">
                <a:solidFill>
                  <a:srgbClr val="3B3434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3B3434"/>
                </a:solidFill>
                <a:latin typeface="Times New Roman"/>
                <a:cs typeface="Times New Roman"/>
              </a:rPr>
              <a:t>effectively</a:t>
            </a:r>
            <a:r>
              <a:rPr sz="2400" spc="-30" dirty="0">
                <a:solidFill>
                  <a:srgbClr val="3B3434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3B3434"/>
                </a:solidFill>
                <a:latin typeface="Times New Roman"/>
                <a:cs typeface="Times New Roman"/>
              </a:rPr>
              <a:t>how</a:t>
            </a:r>
            <a:r>
              <a:rPr sz="2400" spc="-25" dirty="0">
                <a:solidFill>
                  <a:srgbClr val="3B3434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3B3434"/>
                </a:solidFill>
                <a:latin typeface="Times New Roman"/>
                <a:cs typeface="Times New Roman"/>
              </a:rPr>
              <a:t>small</a:t>
            </a:r>
            <a:r>
              <a:rPr sz="2400" spc="-30" dirty="0">
                <a:solidFill>
                  <a:srgbClr val="3B3434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3B3434"/>
                </a:solidFill>
                <a:latin typeface="Times New Roman"/>
                <a:cs typeface="Times New Roman"/>
              </a:rPr>
              <a:t>a</a:t>
            </a:r>
            <a:r>
              <a:rPr sz="2400" spc="-30" dirty="0">
                <a:solidFill>
                  <a:srgbClr val="3B3434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3B3434"/>
                </a:solidFill>
                <a:latin typeface="Times New Roman"/>
                <a:cs typeface="Times New Roman"/>
              </a:rPr>
              <a:t>feature</a:t>
            </a:r>
            <a:r>
              <a:rPr sz="2400" spc="-25" dirty="0">
                <a:solidFill>
                  <a:srgbClr val="3B3434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3B3434"/>
                </a:solidFill>
                <a:latin typeface="Times New Roman"/>
                <a:cs typeface="Times New Roman"/>
              </a:rPr>
              <a:t>can</a:t>
            </a:r>
            <a:r>
              <a:rPr sz="2400" spc="-30" dirty="0">
                <a:solidFill>
                  <a:srgbClr val="3B3434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3B3434"/>
                </a:solidFill>
                <a:latin typeface="Times New Roman"/>
                <a:cs typeface="Times New Roman"/>
              </a:rPr>
              <a:t>be</a:t>
            </a:r>
            <a:r>
              <a:rPr sz="2400" spc="-30" dirty="0">
                <a:solidFill>
                  <a:srgbClr val="3B3434"/>
                </a:solidFill>
                <a:latin typeface="Times New Roman"/>
                <a:cs typeface="Times New Roman"/>
              </a:rPr>
              <a:t> </a:t>
            </a:r>
            <a:r>
              <a:rPr sz="2400" spc="-10" dirty="0">
                <a:solidFill>
                  <a:srgbClr val="3B3434"/>
                </a:solidFill>
                <a:latin typeface="Times New Roman"/>
                <a:cs typeface="Times New Roman"/>
              </a:rPr>
              <a:t>distinguished.</a:t>
            </a:r>
            <a:r>
              <a:rPr sz="2400" spc="-25" dirty="0">
                <a:solidFill>
                  <a:srgbClr val="3B3434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3B3434"/>
                </a:solidFill>
                <a:latin typeface="Times New Roman"/>
                <a:cs typeface="Times New Roman"/>
              </a:rPr>
              <a:t>In</a:t>
            </a:r>
            <a:r>
              <a:rPr sz="2400" spc="-30" dirty="0">
                <a:solidFill>
                  <a:srgbClr val="3B3434"/>
                </a:solidFill>
                <a:latin typeface="Times New Roman"/>
                <a:cs typeface="Times New Roman"/>
              </a:rPr>
              <a:t> </a:t>
            </a:r>
            <a:r>
              <a:rPr sz="2400" spc="-10" dirty="0">
                <a:solidFill>
                  <a:srgbClr val="3B3434"/>
                </a:solidFill>
                <a:latin typeface="Times New Roman"/>
                <a:cs typeface="Times New Roman"/>
              </a:rPr>
              <a:t>imaging,</a:t>
            </a:r>
            <a:r>
              <a:rPr sz="2400" spc="-25" dirty="0">
                <a:solidFill>
                  <a:srgbClr val="3B3434"/>
                </a:solidFill>
                <a:latin typeface="Times New Roman"/>
                <a:cs typeface="Times New Roman"/>
              </a:rPr>
              <a:t> </a:t>
            </a:r>
            <a:r>
              <a:rPr sz="2400" spc="-20" dirty="0">
                <a:solidFill>
                  <a:srgbClr val="3B3434"/>
                </a:solidFill>
                <a:latin typeface="Times New Roman"/>
                <a:cs typeface="Times New Roman"/>
              </a:rPr>
              <a:t>it's </a:t>
            </a:r>
            <a:r>
              <a:rPr sz="2400" spc="-10" dirty="0">
                <a:solidFill>
                  <a:srgbClr val="3B3434"/>
                </a:solidFill>
                <a:latin typeface="Times New Roman"/>
                <a:cs typeface="Times New Roman"/>
              </a:rPr>
              <a:t>typically</a:t>
            </a:r>
            <a:r>
              <a:rPr sz="2400" spc="-35" dirty="0">
                <a:solidFill>
                  <a:srgbClr val="3B3434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3B3434"/>
                </a:solidFill>
                <a:latin typeface="Times New Roman"/>
                <a:cs typeface="Times New Roman"/>
              </a:rPr>
              <a:t>tied</a:t>
            </a:r>
            <a:r>
              <a:rPr sz="2400" spc="-35" dirty="0">
                <a:solidFill>
                  <a:srgbClr val="3B3434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3B3434"/>
                </a:solidFill>
                <a:latin typeface="Times New Roman"/>
                <a:cs typeface="Times New Roman"/>
              </a:rPr>
              <a:t>to</a:t>
            </a:r>
            <a:r>
              <a:rPr sz="2400" spc="-35" dirty="0">
                <a:solidFill>
                  <a:srgbClr val="3B3434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3B3434"/>
                </a:solidFill>
                <a:latin typeface="Times New Roman"/>
                <a:cs typeface="Times New Roman"/>
              </a:rPr>
              <a:t>pixel</a:t>
            </a:r>
            <a:r>
              <a:rPr sz="2400" spc="-35" dirty="0">
                <a:solidFill>
                  <a:srgbClr val="3B3434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3B3434"/>
                </a:solidFill>
                <a:latin typeface="Times New Roman"/>
                <a:cs typeface="Times New Roman"/>
              </a:rPr>
              <a:t>size,</a:t>
            </a:r>
            <a:r>
              <a:rPr sz="2400" spc="-35" dirty="0">
                <a:solidFill>
                  <a:srgbClr val="3B3434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3B3434"/>
                </a:solidFill>
                <a:latin typeface="Times New Roman"/>
                <a:cs typeface="Times New Roman"/>
              </a:rPr>
              <a:t>optics,</a:t>
            </a:r>
            <a:r>
              <a:rPr sz="2400" spc="-30" dirty="0">
                <a:solidFill>
                  <a:srgbClr val="3B3434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3B3434"/>
                </a:solidFill>
                <a:latin typeface="Times New Roman"/>
                <a:cs typeface="Times New Roman"/>
              </a:rPr>
              <a:t>and</a:t>
            </a:r>
            <a:r>
              <a:rPr sz="2400" spc="-35" dirty="0">
                <a:solidFill>
                  <a:srgbClr val="3B3434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3B3434"/>
                </a:solidFill>
                <a:latin typeface="Times New Roman"/>
                <a:cs typeface="Times New Roman"/>
              </a:rPr>
              <a:t>sensor</a:t>
            </a:r>
            <a:r>
              <a:rPr sz="2400" spc="-35" dirty="0">
                <a:solidFill>
                  <a:srgbClr val="3B3434"/>
                </a:solidFill>
                <a:latin typeface="Times New Roman"/>
                <a:cs typeface="Times New Roman"/>
              </a:rPr>
              <a:t> </a:t>
            </a:r>
            <a:r>
              <a:rPr sz="2400" spc="-10" dirty="0">
                <a:solidFill>
                  <a:srgbClr val="3B3434"/>
                </a:solidFill>
                <a:latin typeface="Times New Roman"/>
                <a:cs typeface="Times New Roman"/>
              </a:rPr>
              <a:t>sampling;</a:t>
            </a:r>
            <a:r>
              <a:rPr sz="2400" spc="-35" dirty="0">
                <a:solidFill>
                  <a:srgbClr val="3B3434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3B3434"/>
                </a:solidFill>
                <a:latin typeface="Times New Roman"/>
                <a:cs typeface="Times New Roman"/>
              </a:rPr>
              <a:t>higher</a:t>
            </a:r>
            <a:r>
              <a:rPr sz="2400" spc="-35" dirty="0">
                <a:solidFill>
                  <a:srgbClr val="3B3434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3B3434"/>
                </a:solidFill>
                <a:latin typeface="Times New Roman"/>
                <a:cs typeface="Times New Roman"/>
              </a:rPr>
              <a:t>pixel</a:t>
            </a:r>
            <a:r>
              <a:rPr sz="2400" spc="-30" dirty="0">
                <a:solidFill>
                  <a:srgbClr val="3B3434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3B3434"/>
                </a:solidFill>
                <a:latin typeface="Times New Roman"/>
                <a:cs typeface="Times New Roman"/>
              </a:rPr>
              <a:t>count</a:t>
            </a:r>
            <a:r>
              <a:rPr sz="2400" spc="-35" dirty="0">
                <a:solidFill>
                  <a:srgbClr val="3B3434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3B3434"/>
                </a:solidFill>
                <a:latin typeface="Times New Roman"/>
                <a:cs typeface="Times New Roman"/>
              </a:rPr>
              <a:t>alone</a:t>
            </a:r>
            <a:r>
              <a:rPr sz="2400" spc="-35" dirty="0">
                <a:solidFill>
                  <a:srgbClr val="3B3434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3B3434"/>
                </a:solidFill>
                <a:latin typeface="Times New Roman"/>
                <a:cs typeface="Times New Roman"/>
              </a:rPr>
              <a:t>does</a:t>
            </a:r>
            <a:r>
              <a:rPr sz="2400" spc="-35" dirty="0">
                <a:solidFill>
                  <a:srgbClr val="3B3434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3B3434"/>
                </a:solidFill>
                <a:latin typeface="Times New Roman"/>
                <a:cs typeface="Times New Roman"/>
              </a:rPr>
              <a:t>not</a:t>
            </a:r>
            <a:r>
              <a:rPr sz="2400" spc="-35" dirty="0">
                <a:solidFill>
                  <a:srgbClr val="3B3434"/>
                </a:solidFill>
                <a:latin typeface="Times New Roman"/>
                <a:cs typeface="Times New Roman"/>
              </a:rPr>
              <a:t> </a:t>
            </a:r>
            <a:r>
              <a:rPr sz="2400" spc="-10" dirty="0">
                <a:solidFill>
                  <a:srgbClr val="3B3434"/>
                </a:solidFill>
                <a:latin typeface="Times New Roman"/>
                <a:cs typeface="Times New Roman"/>
              </a:rPr>
              <a:t>guarantee</a:t>
            </a:r>
            <a:r>
              <a:rPr sz="2400" spc="-30" dirty="0">
                <a:solidFill>
                  <a:srgbClr val="3B3434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3B3434"/>
                </a:solidFill>
                <a:latin typeface="Times New Roman"/>
                <a:cs typeface="Times New Roman"/>
              </a:rPr>
              <a:t>higher</a:t>
            </a:r>
            <a:r>
              <a:rPr sz="2400" spc="-35" dirty="0">
                <a:solidFill>
                  <a:srgbClr val="3B3434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3B3434"/>
                </a:solidFill>
                <a:latin typeface="Times New Roman"/>
                <a:cs typeface="Times New Roman"/>
              </a:rPr>
              <a:t>effective</a:t>
            </a:r>
            <a:r>
              <a:rPr sz="2400" spc="-35" dirty="0">
                <a:solidFill>
                  <a:srgbClr val="3B3434"/>
                </a:solidFill>
                <a:latin typeface="Times New Roman"/>
                <a:cs typeface="Times New Roman"/>
              </a:rPr>
              <a:t> </a:t>
            </a:r>
            <a:r>
              <a:rPr sz="2400" spc="-10">
                <a:solidFill>
                  <a:srgbClr val="3B3434"/>
                </a:solidFill>
                <a:latin typeface="Times New Roman"/>
                <a:cs typeface="Times New Roman"/>
              </a:rPr>
              <a:t>resolution.</a:t>
            </a:r>
            <a:r>
              <a:rPr sz="2400" dirty="0">
                <a:solidFill>
                  <a:srgbClr val="3B3434"/>
                </a:solidFill>
                <a:latin typeface="Times New Roman"/>
                <a:cs typeface="Times New Roman"/>
              </a:rPr>
              <a:t>	</a:t>
            </a:r>
            <a:endParaRPr sz="2400" spc="-10" dirty="0">
              <a:solidFill>
                <a:srgbClr val="3B3434"/>
              </a:solidFill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65614" y="4502528"/>
            <a:ext cx="942974" cy="580994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485778" y="3999929"/>
            <a:ext cx="2339926" cy="1953227"/>
          </a:xfrm>
          <a:prstGeom prst="rect">
            <a:avLst/>
          </a:prstGeom>
        </p:spPr>
        <p:txBody>
          <a:bodyPr vert="horz" wrap="square" lIns="0" tIns="15875" rIns="0" bIns="0" rtlCol="0" anchor="t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600" dirty="0">
                <a:solidFill>
                  <a:srgbClr val="3B3434"/>
                </a:solidFill>
                <a:latin typeface="Tahoma"/>
                <a:cs typeface="Tahoma"/>
              </a:rPr>
              <a:t>Pixels</a:t>
            </a:r>
            <a:r>
              <a:rPr sz="1600" spc="-10" dirty="0">
                <a:solidFill>
                  <a:srgbClr val="3B3434"/>
                </a:solidFill>
                <a:latin typeface="Tahoma"/>
                <a:cs typeface="Tahoma"/>
              </a:rPr>
              <a:t> </a:t>
            </a:r>
            <a:r>
              <a:rPr sz="1600" spc="-30" dirty="0">
                <a:solidFill>
                  <a:srgbClr val="3B3434"/>
                </a:solidFill>
                <a:latin typeface="Tahoma"/>
                <a:cs typeface="Tahoma"/>
              </a:rPr>
              <a:t>vs.</a:t>
            </a:r>
            <a:r>
              <a:rPr sz="1600" spc="-10" dirty="0">
                <a:solidFill>
                  <a:srgbClr val="3B3434"/>
                </a:solidFill>
                <a:latin typeface="Tahoma"/>
                <a:cs typeface="Tahoma"/>
              </a:rPr>
              <a:t> Resolution</a:t>
            </a:r>
            <a:endParaRPr sz="1600">
              <a:latin typeface="Tahoma"/>
              <a:cs typeface="Tahoma"/>
            </a:endParaRPr>
          </a:p>
          <a:p>
            <a:pPr marL="12700" marR="5080">
              <a:lnSpc>
                <a:spcPct val="133800"/>
              </a:lnSpc>
              <a:spcBef>
                <a:spcPts val="580"/>
              </a:spcBef>
            </a:pPr>
            <a:r>
              <a:rPr sz="1600" dirty="0">
                <a:solidFill>
                  <a:srgbClr val="3B3434"/>
                </a:solidFill>
                <a:latin typeface="Roboto Lt"/>
                <a:cs typeface="Roboto Lt"/>
              </a:rPr>
              <a:t>Pixel</a:t>
            </a:r>
            <a:r>
              <a:rPr sz="1600" spc="-30" dirty="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sz="1600" dirty="0">
                <a:solidFill>
                  <a:srgbClr val="3B3434"/>
                </a:solidFill>
                <a:latin typeface="Roboto Lt"/>
                <a:cs typeface="Roboto Lt"/>
              </a:rPr>
              <a:t>count</a:t>
            </a:r>
            <a:r>
              <a:rPr sz="1600" spc="-30" dirty="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sz="1600" dirty="0">
                <a:solidFill>
                  <a:srgbClr val="3B3434"/>
                </a:solidFill>
                <a:latin typeface="Roboto Lt"/>
                <a:cs typeface="Roboto Lt"/>
              </a:rPr>
              <a:t>(MP)</a:t>
            </a:r>
            <a:r>
              <a:rPr sz="1600" spc="-25" dirty="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sz="1600" dirty="0">
                <a:solidFill>
                  <a:srgbClr val="3B3434"/>
                </a:solidFill>
                <a:latin typeface="Roboto Lt"/>
                <a:cs typeface="Roboto Lt"/>
              </a:rPr>
              <a:t>is</a:t>
            </a:r>
            <a:r>
              <a:rPr sz="1600" spc="-30" dirty="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sz="1600" spc="-25" dirty="0">
                <a:solidFill>
                  <a:srgbClr val="3B3434"/>
                </a:solidFill>
                <a:latin typeface="Roboto Lt"/>
                <a:cs typeface="Roboto Lt"/>
              </a:rPr>
              <a:t>one </a:t>
            </a:r>
            <a:r>
              <a:rPr sz="1600" dirty="0">
                <a:solidFill>
                  <a:srgbClr val="3B3434"/>
                </a:solidFill>
                <a:latin typeface="Roboto Lt"/>
                <a:cs typeface="Roboto Lt"/>
              </a:rPr>
              <a:t>metric,</a:t>
            </a:r>
            <a:r>
              <a:rPr sz="1600" spc="-35" dirty="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sz="1600" dirty="0">
                <a:solidFill>
                  <a:srgbClr val="3B3434"/>
                </a:solidFill>
                <a:latin typeface="Roboto Lt"/>
                <a:cs typeface="Roboto Lt"/>
              </a:rPr>
              <a:t>but</a:t>
            </a:r>
            <a:r>
              <a:rPr sz="1600" spc="-35" dirty="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sz="1600" dirty="0">
                <a:solidFill>
                  <a:srgbClr val="3B3434"/>
                </a:solidFill>
                <a:latin typeface="Roboto Lt"/>
                <a:cs typeface="Roboto Lt"/>
              </a:rPr>
              <a:t>optical</a:t>
            </a:r>
            <a:r>
              <a:rPr sz="1600" spc="-35" dirty="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sz="1600" spc="-10" dirty="0">
                <a:solidFill>
                  <a:srgbClr val="3B3434"/>
                </a:solidFill>
                <a:latin typeface="Roboto Lt"/>
                <a:cs typeface="Roboto Lt"/>
              </a:rPr>
              <a:t>quality, sampling,</a:t>
            </a:r>
            <a:r>
              <a:rPr sz="1600" spc="-20" dirty="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sz="1600" dirty="0">
                <a:solidFill>
                  <a:srgbClr val="3B3434"/>
                </a:solidFill>
                <a:latin typeface="Roboto Lt"/>
                <a:cs typeface="Roboto Lt"/>
              </a:rPr>
              <a:t>and</a:t>
            </a:r>
            <a:r>
              <a:rPr sz="1600" spc="-20" dirty="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sz="1600" spc="-10" dirty="0" err="1">
                <a:solidFill>
                  <a:srgbClr val="3B3434"/>
                </a:solidFill>
                <a:latin typeface="Roboto Lt"/>
                <a:cs typeface="Roboto Lt"/>
              </a:rPr>
              <a:t>demosaicing</a:t>
            </a:r>
            <a:r>
              <a:rPr sz="1600" spc="-10" dirty="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sz="1600" dirty="0">
                <a:solidFill>
                  <a:srgbClr val="3B3434"/>
                </a:solidFill>
                <a:latin typeface="Roboto Lt"/>
                <a:cs typeface="Roboto Lt"/>
              </a:rPr>
              <a:t>determine</a:t>
            </a:r>
            <a:r>
              <a:rPr sz="1600" spc="-40" dirty="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sz="1600" dirty="0">
                <a:solidFill>
                  <a:srgbClr val="3B3434"/>
                </a:solidFill>
                <a:latin typeface="Roboto Lt"/>
                <a:cs typeface="Roboto Lt"/>
              </a:rPr>
              <a:t>true</a:t>
            </a:r>
            <a:r>
              <a:rPr sz="1600" spc="-40" dirty="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sz="1600" spc="-10" dirty="0">
                <a:solidFill>
                  <a:srgbClr val="3B3434"/>
                </a:solidFill>
                <a:latin typeface="Roboto Lt"/>
                <a:cs typeface="Roboto Lt"/>
              </a:rPr>
              <a:t>resolving power.</a:t>
            </a:r>
            <a:endParaRPr sz="1600">
              <a:latin typeface="Roboto Lt"/>
              <a:cs typeface="Roboto Lt"/>
            </a:endParaRP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086209" y="4212484"/>
            <a:ext cx="942990" cy="580994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5148120" y="3841725"/>
            <a:ext cx="2296012" cy="1953227"/>
          </a:xfrm>
          <a:prstGeom prst="rect">
            <a:avLst/>
          </a:prstGeom>
        </p:spPr>
        <p:txBody>
          <a:bodyPr vert="horz" wrap="square" lIns="0" tIns="15875" rIns="0" bIns="0" rtlCol="0" anchor="t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600" spc="50" dirty="0">
                <a:solidFill>
                  <a:srgbClr val="3B3434"/>
                </a:solidFill>
                <a:latin typeface="Tahoma"/>
                <a:cs typeface="Tahoma"/>
              </a:rPr>
              <a:t>Optics</a:t>
            </a:r>
            <a:r>
              <a:rPr sz="1600" spc="-100" dirty="0">
                <a:solidFill>
                  <a:srgbClr val="3B3434"/>
                </a:solidFill>
                <a:latin typeface="Tahoma"/>
                <a:cs typeface="Tahoma"/>
              </a:rPr>
              <a:t> </a:t>
            </a:r>
            <a:r>
              <a:rPr sz="1600" spc="-10" dirty="0">
                <a:solidFill>
                  <a:srgbClr val="3B3434"/>
                </a:solidFill>
                <a:latin typeface="Tahoma"/>
                <a:cs typeface="Tahoma"/>
              </a:rPr>
              <a:t>Matter</a:t>
            </a:r>
            <a:endParaRPr sz="1600">
              <a:latin typeface="Tahoma"/>
              <a:cs typeface="Tahoma"/>
            </a:endParaRPr>
          </a:p>
          <a:p>
            <a:pPr marL="12700" marR="5080">
              <a:lnSpc>
                <a:spcPct val="133800"/>
              </a:lnSpc>
              <a:spcBef>
                <a:spcPts val="580"/>
              </a:spcBef>
            </a:pPr>
            <a:r>
              <a:rPr sz="1600" dirty="0">
                <a:solidFill>
                  <a:srgbClr val="3B3434"/>
                </a:solidFill>
                <a:latin typeface="Roboto Lt"/>
                <a:cs typeface="Roboto Lt"/>
              </a:rPr>
              <a:t>Lens</a:t>
            </a:r>
            <a:r>
              <a:rPr sz="1600" spc="-40" dirty="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sz="1600" dirty="0">
                <a:solidFill>
                  <a:srgbClr val="3B3434"/>
                </a:solidFill>
                <a:latin typeface="Roboto Lt"/>
                <a:cs typeface="Roboto Lt"/>
              </a:rPr>
              <a:t>MTF</a:t>
            </a:r>
            <a:r>
              <a:rPr sz="1600" spc="-40" dirty="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sz="1600" spc="-10" dirty="0">
                <a:solidFill>
                  <a:srgbClr val="3B3434"/>
                </a:solidFill>
                <a:latin typeface="Roboto Lt"/>
                <a:cs typeface="Roboto Lt"/>
              </a:rPr>
              <a:t>(modulation transfer</a:t>
            </a:r>
            <a:r>
              <a:rPr sz="1600" spc="-35" dirty="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sz="1600" dirty="0">
                <a:solidFill>
                  <a:srgbClr val="3B3434"/>
                </a:solidFill>
                <a:latin typeface="Roboto Lt"/>
                <a:cs typeface="Roboto Lt"/>
              </a:rPr>
              <a:t>function)</a:t>
            </a:r>
            <a:r>
              <a:rPr sz="1600" spc="-30" dirty="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sz="1600" dirty="0">
                <a:solidFill>
                  <a:srgbClr val="3B3434"/>
                </a:solidFill>
                <a:latin typeface="Roboto Lt"/>
                <a:cs typeface="Roboto Lt"/>
              </a:rPr>
              <a:t>and</a:t>
            </a:r>
            <a:r>
              <a:rPr sz="1600" spc="-30" dirty="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sz="1600" spc="-20" dirty="0">
                <a:solidFill>
                  <a:srgbClr val="3B3434"/>
                </a:solidFill>
                <a:latin typeface="Roboto Lt"/>
                <a:cs typeface="Roboto Lt"/>
              </a:rPr>
              <a:t>focus </a:t>
            </a:r>
            <a:r>
              <a:rPr sz="1600" dirty="0">
                <a:solidFill>
                  <a:srgbClr val="3B3434"/>
                </a:solidFill>
                <a:latin typeface="Roboto Lt"/>
                <a:cs typeface="Roboto Lt"/>
              </a:rPr>
              <a:t>depth</a:t>
            </a:r>
            <a:r>
              <a:rPr sz="1600" spc="-35" dirty="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sz="1600" dirty="0">
                <a:solidFill>
                  <a:srgbClr val="3B3434"/>
                </a:solidFill>
                <a:latin typeface="Roboto Lt"/>
                <a:cs typeface="Roboto Lt"/>
              </a:rPr>
              <a:t>often</a:t>
            </a:r>
            <a:r>
              <a:rPr sz="1600" spc="-30" dirty="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sz="1600" dirty="0">
                <a:solidFill>
                  <a:srgbClr val="3B3434"/>
                </a:solidFill>
                <a:latin typeface="Roboto Lt"/>
                <a:cs typeface="Roboto Lt"/>
              </a:rPr>
              <a:t>limit</a:t>
            </a:r>
            <a:r>
              <a:rPr sz="1600" spc="-30" dirty="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sz="1600" spc="-10" dirty="0">
                <a:solidFill>
                  <a:srgbClr val="3B3434"/>
                </a:solidFill>
                <a:latin typeface="Roboto Lt"/>
                <a:cs typeface="Roboto Lt"/>
              </a:rPr>
              <a:t>effective resolution</a:t>
            </a:r>
            <a:r>
              <a:rPr sz="1600" spc="-25" dirty="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sz="1600" dirty="0">
                <a:solidFill>
                  <a:srgbClr val="3B3434"/>
                </a:solidFill>
                <a:latin typeface="Roboto Lt"/>
                <a:cs typeface="Roboto Lt"/>
              </a:rPr>
              <a:t>before</a:t>
            </a:r>
            <a:r>
              <a:rPr sz="1600" spc="-20" dirty="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sz="1600" dirty="0">
                <a:solidFill>
                  <a:srgbClr val="3B3434"/>
                </a:solidFill>
                <a:latin typeface="Roboto Lt"/>
                <a:cs typeface="Roboto Lt"/>
              </a:rPr>
              <a:t>pixel</a:t>
            </a:r>
            <a:r>
              <a:rPr sz="1600" spc="-20" dirty="0">
                <a:solidFill>
                  <a:srgbClr val="3B3434"/>
                </a:solidFill>
                <a:latin typeface="Roboto Lt"/>
                <a:cs typeface="Roboto Lt"/>
              </a:rPr>
              <a:t> count </a:t>
            </a:r>
            <a:r>
              <a:rPr sz="1600" spc="-10" dirty="0">
                <a:solidFill>
                  <a:srgbClr val="3B3434"/>
                </a:solidFill>
                <a:latin typeface="Roboto Lt"/>
                <a:cs typeface="Roboto Lt"/>
              </a:rPr>
              <a:t>does</a:t>
            </a:r>
            <a:r>
              <a:rPr sz="1250" spc="-10" dirty="0">
                <a:solidFill>
                  <a:srgbClr val="3B3434"/>
                </a:solidFill>
                <a:latin typeface="Roboto Lt"/>
                <a:cs typeface="Roboto Lt"/>
              </a:rPr>
              <a:t>.</a:t>
            </a:r>
            <a:endParaRPr sz="1250">
              <a:latin typeface="Roboto Lt"/>
              <a:cs typeface="Roboto Lt"/>
            </a:endParaRPr>
          </a:p>
        </p:txBody>
      </p:sp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570177" y="4212484"/>
            <a:ext cx="942990" cy="580994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8740123" y="3841724"/>
            <a:ext cx="2649806" cy="1953227"/>
          </a:xfrm>
          <a:prstGeom prst="rect">
            <a:avLst/>
          </a:prstGeom>
        </p:spPr>
        <p:txBody>
          <a:bodyPr vert="horz" wrap="square" lIns="0" tIns="15875" rIns="0" bIns="0" rtlCol="0" anchor="t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600" dirty="0">
                <a:solidFill>
                  <a:srgbClr val="3B3434"/>
                </a:solidFill>
                <a:latin typeface="Tahoma"/>
                <a:cs typeface="Tahoma"/>
              </a:rPr>
              <a:t>Rule</a:t>
            </a:r>
            <a:r>
              <a:rPr sz="1600" spc="-80" dirty="0">
                <a:solidFill>
                  <a:srgbClr val="3B3434"/>
                </a:solidFill>
                <a:latin typeface="Tahoma"/>
                <a:cs typeface="Tahoma"/>
              </a:rPr>
              <a:t> </a:t>
            </a:r>
            <a:r>
              <a:rPr sz="1600" spc="50" dirty="0">
                <a:solidFill>
                  <a:srgbClr val="3B3434"/>
                </a:solidFill>
                <a:latin typeface="Tahoma"/>
                <a:cs typeface="Tahoma"/>
              </a:rPr>
              <a:t>of</a:t>
            </a:r>
            <a:r>
              <a:rPr sz="1600" spc="-75" dirty="0">
                <a:solidFill>
                  <a:srgbClr val="3B3434"/>
                </a:solidFill>
                <a:latin typeface="Tahoma"/>
                <a:cs typeface="Tahoma"/>
              </a:rPr>
              <a:t> </a:t>
            </a:r>
            <a:r>
              <a:rPr sz="1600" spc="-10" dirty="0">
                <a:solidFill>
                  <a:srgbClr val="3B3434"/>
                </a:solidFill>
                <a:latin typeface="Tahoma"/>
                <a:cs typeface="Tahoma"/>
              </a:rPr>
              <a:t>Thumb</a:t>
            </a:r>
            <a:endParaRPr sz="1600">
              <a:latin typeface="Tahoma"/>
              <a:cs typeface="Tahoma"/>
            </a:endParaRPr>
          </a:p>
          <a:p>
            <a:pPr marL="12700" marR="5080">
              <a:lnSpc>
                <a:spcPct val="133800"/>
              </a:lnSpc>
              <a:spcBef>
                <a:spcPts val="580"/>
              </a:spcBef>
            </a:pPr>
            <a:r>
              <a:rPr sz="1600" dirty="0">
                <a:solidFill>
                  <a:srgbClr val="3B3434"/>
                </a:solidFill>
                <a:latin typeface="Roboto Lt"/>
                <a:cs typeface="Roboto Lt"/>
              </a:rPr>
              <a:t>For </a:t>
            </a:r>
            <a:r>
              <a:rPr sz="1600" spc="-10" dirty="0">
                <a:solidFill>
                  <a:srgbClr val="3B3434"/>
                </a:solidFill>
                <a:latin typeface="Roboto Lt"/>
                <a:cs typeface="Roboto Lt"/>
              </a:rPr>
              <a:t>identification</a:t>
            </a:r>
            <a:r>
              <a:rPr sz="1600" spc="5" dirty="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sz="1600" dirty="0">
                <a:solidFill>
                  <a:srgbClr val="3B3434"/>
                </a:solidFill>
                <a:latin typeface="Roboto Lt"/>
                <a:cs typeface="Roboto Lt"/>
              </a:rPr>
              <a:t>(not</a:t>
            </a:r>
            <a:r>
              <a:rPr sz="1600" spc="5" dirty="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sz="1600" spc="-20" dirty="0">
                <a:solidFill>
                  <a:srgbClr val="3B3434"/>
                </a:solidFill>
                <a:latin typeface="Roboto Lt"/>
                <a:cs typeface="Roboto Lt"/>
              </a:rPr>
              <a:t>just </a:t>
            </a:r>
            <a:r>
              <a:rPr sz="1600" dirty="0">
                <a:solidFill>
                  <a:srgbClr val="3B3434"/>
                </a:solidFill>
                <a:latin typeface="Roboto Lt"/>
                <a:cs typeface="Roboto Lt"/>
              </a:rPr>
              <a:t>detection),</a:t>
            </a:r>
            <a:r>
              <a:rPr sz="1600" spc="-40" dirty="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sz="1600" dirty="0">
                <a:solidFill>
                  <a:srgbClr val="3B3434"/>
                </a:solidFill>
                <a:latin typeface="Roboto Lt"/>
                <a:cs typeface="Roboto Lt"/>
              </a:rPr>
              <a:t>choose</a:t>
            </a:r>
            <a:r>
              <a:rPr sz="1600" spc="-40" dirty="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sz="1600" spc="-10" dirty="0">
                <a:solidFill>
                  <a:srgbClr val="3B3434"/>
                </a:solidFill>
                <a:latin typeface="Roboto Lt"/>
                <a:cs typeface="Roboto Lt"/>
              </a:rPr>
              <a:t>sensors </a:t>
            </a:r>
            <a:r>
              <a:rPr sz="1600" dirty="0">
                <a:solidFill>
                  <a:srgbClr val="3B3434"/>
                </a:solidFill>
                <a:latin typeface="Roboto Lt"/>
                <a:cs typeface="Roboto Lt"/>
              </a:rPr>
              <a:t>with</a:t>
            </a:r>
            <a:r>
              <a:rPr sz="1600" spc="-40" dirty="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sz="1600" dirty="0">
                <a:solidFill>
                  <a:srgbClr val="3B3434"/>
                </a:solidFill>
                <a:latin typeface="Roboto Lt"/>
                <a:cs typeface="Roboto Lt"/>
              </a:rPr>
              <a:t>~10</a:t>
            </a:r>
            <a:r>
              <a:rPr sz="1600" spc="-35" dirty="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sz="1600" dirty="0">
                <a:solidFill>
                  <a:srgbClr val="3B3434"/>
                </a:solidFill>
                <a:latin typeface="Roboto Lt"/>
                <a:cs typeface="Roboto Lt"/>
              </a:rPr>
              <a:t>pixels</a:t>
            </a:r>
            <a:r>
              <a:rPr sz="1600" spc="-35" dirty="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sz="1600" dirty="0">
                <a:solidFill>
                  <a:srgbClr val="3B3434"/>
                </a:solidFill>
                <a:latin typeface="Roboto Lt"/>
                <a:cs typeface="Roboto Lt"/>
              </a:rPr>
              <a:t>across</a:t>
            </a:r>
            <a:r>
              <a:rPr sz="1600" spc="-35" dirty="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sz="1600" spc="-25" dirty="0">
                <a:solidFill>
                  <a:srgbClr val="3B3434"/>
                </a:solidFill>
                <a:latin typeface="Roboto Lt"/>
                <a:cs typeface="Roboto Lt"/>
              </a:rPr>
              <a:t>the </a:t>
            </a:r>
            <a:r>
              <a:rPr sz="1600" dirty="0">
                <a:solidFill>
                  <a:srgbClr val="3B3434"/>
                </a:solidFill>
                <a:latin typeface="Roboto Lt"/>
                <a:cs typeface="Roboto Lt"/>
              </a:rPr>
              <a:t>target</a:t>
            </a:r>
            <a:r>
              <a:rPr sz="1600" spc="-40" dirty="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sz="1600" dirty="0">
                <a:solidFill>
                  <a:srgbClr val="3B3434"/>
                </a:solidFill>
                <a:latin typeface="Roboto Lt"/>
                <a:cs typeface="Roboto Lt"/>
              </a:rPr>
              <a:t>feature</a:t>
            </a:r>
            <a:r>
              <a:rPr sz="1600" spc="-35" dirty="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sz="1600" dirty="0">
                <a:solidFill>
                  <a:srgbClr val="3B3434"/>
                </a:solidFill>
                <a:latin typeface="Roboto Lt"/>
                <a:cs typeface="Roboto Lt"/>
              </a:rPr>
              <a:t>to</a:t>
            </a:r>
            <a:r>
              <a:rPr sz="1600" spc="-35" dirty="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sz="1600" spc="-10" dirty="0">
                <a:solidFill>
                  <a:srgbClr val="3B3434"/>
                </a:solidFill>
                <a:latin typeface="Roboto Lt"/>
                <a:cs typeface="Roboto Lt"/>
              </a:rPr>
              <a:t>ensure </a:t>
            </a:r>
            <a:r>
              <a:rPr sz="1600" dirty="0">
                <a:solidFill>
                  <a:srgbClr val="3B3434"/>
                </a:solidFill>
                <a:latin typeface="Roboto Lt"/>
                <a:cs typeface="Roboto Lt"/>
              </a:rPr>
              <a:t>reliable</a:t>
            </a:r>
            <a:r>
              <a:rPr sz="1600" spc="-70" dirty="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sz="1600" spc="-10" dirty="0">
                <a:solidFill>
                  <a:srgbClr val="3B3434"/>
                </a:solidFill>
                <a:latin typeface="Roboto Lt"/>
                <a:cs typeface="Roboto Lt"/>
              </a:rPr>
              <a:t>recognition.</a:t>
            </a:r>
            <a:endParaRPr sz="1600">
              <a:latin typeface="Roboto Lt"/>
              <a:cs typeface="Roboto L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81979" y="461245"/>
            <a:ext cx="6157888" cy="956031"/>
          </a:xfrm>
          <a:prstGeom prst="rect">
            <a:avLst/>
          </a:prstGeom>
        </p:spPr>
        <p:txBody>
          <a:bodyPr vert="horz" wrap="square" lIns="0" tIns="6985" rIns="0" bIns="0" rtlCol="0" anchor="t">
            <a:spAutoFit/>
          </a:bodyPr>
          <a:lstStyle/>
          <a:p>
            <a:pPr marL="12700" marR="5080">
              <a:lnSpc>
                <a:spcPts val="3679"/>
              </a:lnSpc>
              <a:spcBef>
                <a:spcPts val="55"/>
              </a:spcBef>
            </a:pPr>
            <a:r>
              <a:rPr sz="3200" b="1" dirty="0">
                <a:latin typeface="Times New Roman"/>
                <a:cs typeface="Times New Roman"/>
              </a:rPr>
              <a:t>Resolution</a:t>
            </a:r>
            <a:r>
              <a:rPr sz="3200" b="1" spc="-75" dirty="0">
                <a:latin typeface="Times New Roman"/>
                <a:cs typeface="Times New Roman"/>
              </a:rPr>
              <a:t> </a:t>
            </a:r>
            <a:r>
              <a:rPr sz="3200" b="1" spc="-65" dirty="0">
                <a:latin typeface="Times New Roman"/>
                <a:cs typeface="Times New Roman"/>
              </a:rPr>
              <a:t>vs.</a:t>
            </a:r>
            <a:r>
              <a:rPr sz="3200" b="1" spc="-75" dirty="0">
                <a:latin typeface="Times New Roman"/>
                <a:cs typeface="Times New Roman"/>
              </a:rPr>
              <a:t> </a:t>
            </a:r>
            <a:r>
              <a:rPr sz="3200" b="1" dirty="0">
                <a:latin typeface="Times New Roman"/>
                <a:cs typeface="Times New Roman"/>
              </a:rPr>
              <a:t>Storage:</a:t>
            </a:r>
            <a:r>
              <a:rPr sz="3200" b="1" spc="-70" dirty="0">
                <a:latin typeface="Times New Roman"/>
                <a:cs typeface="Times New Roman"/>
              </a:rPr>
              <a:t> </a:t>
            </a:r>
            <a:r>
              <a:rPr sz="3200" b="1" spc="-10" dirty="0">
                <a:latin typeface="Times New Roman"/>
                <a:cs typeface="Times New Roman"/>
              </a:rPr>
              <a:t>Navigating </a:t>
            </a:r>
            <a:r>
              <a:rPr sz="3200" b="1" spc="55" dirty="0">
                <a:latin typeface="Times New Roman"/>
                <a:cs typeface="Times New Roman"/>
              </a:rPr>
              <a:t>the</a:t>
            </a:r>
            <a:r>
              <a:rPr sz="3200" b="1" spc="-165" dirty="0">
                <a:latin typeface="Times New Roman"/>
                <a:cs typeface="Times New Roman"/>
              </a:rPr>
              <a:t> </a:t>
            </a:r>
            <a:r>
              <a:rPr sz="3200" b="1" spc="75" dirty="0">
                <a:latin typeface="Times New Roman"/>
                <a:cs typeface="Times New Roman"/>
              </a:rPr>
              <a:t>Computer</a:t>
            </a:r>
            <a:r>
              <a:rPr sz="3200" b="1" spc="-160" dirty="0">
                <a:latin typeface="Times New Roman"/>
                <a:cs typeface="Times New Roman"/>
              </a:rPr>
              <a:t> </a:t>
            </a:r>
            <a:r>
              <a:rPr sz="3200" b="1" dirty="0">
                <a:latin typeface="Times New Roman"/>
                <a:cs typeface="Times New Roman"/>
              </a:rPr>
              <a:t>Vision</a:t>
            </a:r>
            <a:r>
              <a:rPr sz="3200" b="1" spc="-160" dirty="0">
                <a:latin typeface="Times New Roman"/>
                <a:cs typeface="Times New Roman"/>
              </a:rPr>
              <a:t> </a:t>
            </a:r>
            <a:r>
              <a:rPr sz="3200" b="1" spc="50" dirty="0">
                <a:latin typeface="Times New Roman"/>
                <a:cs typeface="Times New Roman"/>
              </a:rPr>
              <a:t>Trade-</a:t>
            </a:r>
            <a:r>
              <a:rPr sz="3200" b="1" spc="90" dirty="0">
                <a:latin typeface="Times New Roman"/>
                <a:cs typeface="Times New Roman"/>
              </a:rPr>
              <a:t>off</a:t>
            </a:r>
            <a:endParaRPr lang="en-US" sz="3200" b="1">
              <a:latin typeface="Times New Roman"/>
              <a:cs typeface="Times New Roman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686DDD1-43AC-A2FD-2F06-22FB7E9FAFD5}"/>
              </a:ext>
            </a:extLst>
          </p:cNvPr>
          <p:cNvSpPr txBox="1"/>
          <p:nvPr/>
        </p:nvSpPr>
        <p:spPr>
          <a:xfrm>
            <a:off x="155296" y="1900271"/>
            <a:ext cx="6743696" cy="509589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400" dirty="0">
                <a:latin typeface="Times New Roman"/>
                <a:cs typeface="Times New Roman"/>
              </a:rPr>
              <a:t>Storage requirement is the amount of memory needed to store digital images or videos. It depends on image resolution, color </a:t>
            </a:r>
            <a:r>
              <a:rPr lang="en-US" sz="2400">
                <a:latin typeface="Times New Roman"/>
                <a:cs typeface="Times New Roman"/>
              </a:rPr>
              <a:t>depth, compression technique, and file format.</a:t>
            </a:r>
            <a:endParaRPr lang="en-US" sz="2400" dirty="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 algn="l"/>
            <a:endParaRPr lang="en-US" sz="2400" dirty="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 marL="342900" indent="-342900" algn="l">
              <a:buChar char="•"/>
            </a:pPr>
            <a:r>
              <a:rPr lang="en-US" sz="2400" b="1">
                <a:solidFill>
                  <a:srgbClr val="000000"/>
                </a:solidFill>
              </a:rPr>
              <a:t>High Resolution:</a:t>
            </a:r>
            <a:r>
              <a:rPr lang="en-US" sz="2400">
                <a:solidFill>
                  <a:srgbClr val="000000"/>
                </a:solidFill>
                <a:latin typeface="Times New Roman"/>
                <a:cs typeface="Times New Roman"/>
              </a:rPr>
              <a:t> Better image detail and accuracy but increased storage, memory usage, and processing time. </a:t>
            </a:r>
            <a:endParaRPr lang="en-US" sz="2400">
              <a:latin typeface="Times New Roman"/>
              <a:cs typeface="Times New Roman"/>
            </a:endParaRPr>
          </a:p>
          <a:p>
            <a:pPr marL="342900" indent="-342900" algn="l">
              <a:buChar char="•"/>
            </a:pPr>
            <a:r>
              <a:rPr lang="en-US" sz="2400" b="1">
                <a:solidFill>
                  <a:srgbClr val="000000"/>
                </a:solidFill>
                <a:latin typeface="Times New Roman"/>
                <a:cs typeface="Times New Roman"/>
              </a:rPr>
              <a:t>Low Resolution:</a:t>
            </a:r>
            <a:r>
              <a:rPr lang="en-US" sz="2400">
                <a:solidFill>
                  <a:srgbClr val="000000"/>
                </a:solidFill>
                <a:latin typeface="Times New Roman"/>
                <a:cs typeface="Times New Roman"/>
              </a:rPr>
              <a:t> Faster processing and lower storage requirements but reduced image quality and recognition performance.</a:t>
            </a:r>
            <a:endParaRPr lang="en-US" sz="2400">
              <a:latin typeface="Times New Roman"/>
              <a:cs typeface="Times New Roman"/>
            </a:endParaRPr>
          </a:p>
          <a:p>
            <a:pPr algn="l"/>
            <a:endParaRPr lang="en-US" sz="2000" dirty="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 algn="l"/>
            <a:endParaRPr lang="en-US" sz="2000" dirty="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 algn="l"/>
            <a:endParaRPr lang="en-US" sz="2000" dirty="0">
              <a:solidFill>
                <a:srgbClr val="000000"/>
              </a:solidFill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64394" y="972482"/>
            <a:ext cx="7337375" cy="506549"/>
          </a:xfrm>
          <a:prstGeom prst="rect">
            <a:avLst/>
          </a:prstGeom>
        </p:spPr>
        <p:txBody>
          <a:bodyPr vert="horz" wrap="square" lIns="0" tIns="13970" rIns="0" bIns="0" rtlCol="0" anchor="t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3200" b="1" dirty="0">
                <a:latin typeface="Times New Roman"/>
                <a:cs typeface="Times New Roman"/>
              </a:rPr>
              <a:t>The</a:t>
            </a:r>
            <a:r>
              <a:rPr sz="3200" b="1" spc="-135" dirty="0">
                <a:latin typeface="Times New Roman"/>
                <a:cs typeface="Times New Roman"/>
              </a:rPr>
              <a:t> </a:t>
            </a:r>
            <a:r>
              <a:rPr sz="3200" b="1" spc="50" dirty="0">
                <a:latin typeface="Times New Roman"/>
                <a:cs typeface="Times New Roman"/>
              </a:rPr>
              <a:t>Mechanics</a:t>
            </a:r>
            <a:r>
              <a:rPr sz="3200" b="1" spc="-130" dirty="0">
                <a:latin typeface="Times New Roman"/>
                <a:cs typeface="Times New Roman"/>
              </a:rPr>
              <a:t> </a:t>
            </a:r>
            <a:r>
              <a:rPr sz="3200" b="1" spc="65" dirty="0">
                <a:latin typeface="Times New Roman"/>
                <a:cs typeface="Times New Roman"/>
              </a:rPr>
              <a:t>of</a:t>
            </a:r>
            <a:r>
              <a:rPr sz="3200" b="1" spc="-130" dirty="0">
                <a:latin typeface="Times New Roman"/>
                <a:cs typeface="Times New Roman"/>
              </a:rPr>
              <a:t> </a:t>
            </a:r>
            <a:r>
              <a:rPr sz="3200" b="1" spc="45" dirty="0">
                <a:latin typeface="Times New Roman"/>
                <a:cs typeface="Times New Roman"/>
              </a:rPr>
              <a:t>Storage</a:t>
            </a:r>
            <a:r>
              <a:rPr sz="3200" b="1" spc="-130" dirty="0">
                <a:latin typeface="Times New Roman"/>
                <a:cs typeface="Times New Roman"/>
              </a:rPr>
              <a:t> </a:t>
            </a:r>
            <a:r>
              <a:rPr sz="3200" b="1" spc="-10" dirty="0">
                <a:latin typeface="Times New Roman"/>
                <a:cs typeface="Times New Roman"/>
              </a:rPr>
              <a:t>Requirements</a:t>
            </a:r>
            <a:endParaRPr lang="en-US" sz="3200" b="1" spc="-10">
              <a:latin typeface="Times New Roman"/>
              <a:ea typeface="Tahoma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24879" y="1857495"/>
            <a:ext cx="9833610" cy="1629357"/>
          </a:xfrm>
          <a:prstGeom prst="rect">
            <a:avLst/>
          </a:prstGeom>
        </p:spPr>
        <p:txBody>
          <a:bodyPr vert="horz" wrap="square" lIns="0" tIns="12700" rIns="0" bIns="0" rtlCol="0" anchor="t">
            <a:spAutoFit/>
          </a:bodyPr>
          <a:lstStyle/>
          <a:p>
            <a:pPr marL="12700" marR="5080" indent="193675">
              <a:lnSpc>
                <a:spcPct val="135000"/>
              </a:lnSpc>
              <a:spcBef>
                <a:spcPts val="100"/>
              </a:spcBef>
            </a:pPr>
            <a:r>
              <a:rPr sz="2000" spc="-10" dirty="0">
                <a:solidFill>
                  <a:srgbClr val="3B3434"/>
                </a:solidFill>
                <a:latin typeface="Roboto Lt"/>
                <a:cs typeface="Roboto Lt"/>
              </a:rPr>
              <a:t>Storage</a:t>
            </a:r>
            <a:r>
              <a:rPr sz="2000" spc="-40" dirty="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sz="2000" dirty="0">
                <a:solidFill>
                  <a:srgbClr val="3B3434"/>
                </a:solidFill>
                <a:latin typeface="Roboto Lt"/>
                <a:cs typeface="Roboto Lt"/>
              </a:rPr>
              <a:t>grows</a:t>
            </a:r>
            <a:r>
              <a:rPr sz="2000" spc="-35" dirty="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sz="2000" spc="-10" dirty="0">
                <a:solidFill>
                  <a:srgbClr val="3B3434"/>
                </a:solidFill>
                <a:latin typeface="Roboto Lt"/>
                <a:cs typeface="Roboto Lt"/>
              </a:rPr>
              <a:t>rapidly</a:t>
            </a:r>
            <a:r>
              <a:rPr sz="2000" spc="-35" dirty="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sz="2000" dirty="0">
                <a:solidFill>
                  <a:srgbClr val="3B3434"/>
                </a:solidFill>
                <a:latin typeface="Roboto Lt"/>
                <a:cs typeface="Roboto Lt"/>
              </a:rPr>
              <a:t>with</a:t>
            </a:r>
            <a:r>
              <a:rPr sz="2000" spc="-35" dirty="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sz="2000" dirty="0">
                <a:solidFill>
                  <a:srgbClr val="3B3434"/>
                </a:solidFill>
                <a:latin typeface="Roboto Lt"/>
                <a:cs typeface="Roboto Lt"/>
              </a:rPr>
              <a:t>increased</a:t>
            </a:r>
            <a:r>
              <a:rPr sz="2000" spc="-35" dirty="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sz="2000" spc="-10" dirty="0">
                <a:solidFill>
                  <a:srgbClr val="3B3434"/>
                </a:solidFill>
                <a:latin typeface="Roboto Lt"/>
                <a:cs typeface="Roboto Lt"/>
              </a:rPr>
              <a:t>resolution.</a:t>
            </a:r>
            <a:r>
              <a:rPr sz="2000" spc="-35" dirty="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sz="2000" spc="-10" dirty="0">
                <a:solidFill>
                  <a:srgbClr val="3B3434"/>
                </a:solidFill>
                <a:latin typeface="Roboto Lt"/>
                <a:cs typeface="Roboto Lt"/>
              </a:rPr>
              <a:t>Doubling</a:t>
            </a:r>
            <a:r>
              <a:rPr sz="2000" spc="-35" dirty="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sz="2000" dirty="0">
                <a:solidFill>
                  <a:srgbClr val="3B3434"/>
                </a:solidFill>
                <a:latin typeface="Roboto Lt"/>
                <a:cs typeface="Roboto Lt"/>
              </a:rPr>
              <a:t>linear</a:t>
            </a:r>
            <a:r>
              <a:rPr sz="2000" spc="-35" dirty="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sz="2000" spc="-10" dirty="0">
                <a:solidFill>
                  <a:srgbClr val="3B3434"/>
                </a:solidFill>
                <a:latin typeface="Roboto Lt"/>
                <a:cs typeface="Roboto Lt"/>
              </a:rPr>
              <a:t>resolution</a:t>
            </a:r>
            <a:r>
              <a:rPr sz="2000" spc="-35" dirty="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sz="2000" dirty="0">
                <a:solidFill>
                  <a:srgbClr val="3B3434"/>
                </a:solidFill>
                <a:latin typeface="Roboto Lt"/>
                <a:cs typeface="Roboto Lt"/>
              </a:rPr>
              <a:t>(width</a:t>
            </a:r>
            <a:r>
              <a:rPr sz="2000" spc="-40" dirty="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sz="2000" dirty="0">
                <a:solidFill>
                  <a:srgbClr val="3B3434"/>
                </a:solidFill>
                <a:latin typeface="Roboto Lt"/>
                <a:cs typeface="Roboto Lt"/>
              </a:rPr>
              <a:t>and</a:t>
            </a:r>
            <a:r>
              <a:rPr sz="2000" spc="-35" dirty="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sz="2000" dirty="0">
                <a:solidFill>
                  <a:srgbClr val="3B3434"/>
                </a:solidFill>
                <a:latin typeface="Roboto Lt"/>
                <a:cs typeface="Roboto Lt"/>
              </a:rPr>
              <a:t>height)</a:t>
            </a:r>
            <a:r>
              <a:rPr sz="2000" spc="-35" dirty="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sz="2000" spc="-10" dirty="0">
                <a:solidFill>
                  <a:srgbClr val="3B3434"/>
                </a:solidFill>
                <a:latin typeface="Roboto Lt"/>
                <a:cs typeface="Roboto Lt"/>
              </a:rPr>
              <a:t>multiplies</a:t>
            </a:r>
            <a:r>
              <a:rPr sz="2000" spc="-35" dirty="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sz="2000" dirty="0">
                <a:solidFill>
                  <a:srgbClr val="3B3434"/>
                </a:solidFill>
                <a:latin typeface="Roboto Lt"/>
                <a:cs typeface="Roboto Lt"/>
              </a:rPr>
              <a:t>pixel</a:t>
            </a:r>
            <a:r>
              <a:rPr sz="2000" spc="-35" dirty="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sz="2000" dirty="0">
                <a:solidFill>
                  <a:srgbClr val="3B3434"/>
                </a:solidFill>
                <a:latin typeface="Roboto Lt"/>
                <a:cs typeface="Roboto Lt"/>
              </a:rPr>
              <a:t>count</a:t>
            </a:r>
            <a:r>
              <a:rPr sz="2000" spc="-35" dirty="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sz="2000" dirty="0">
                <a:solidFill>
                  <a:srgbClr val="3B3434"/>
                </a:solidFill>
                <a:latin typeface="Roboto Lt"/>
                <a:cs typeface="Roboto Lt"/>
              </a:rPr>
              <a:t>—</a:t>
            </a:r>
            <a:r>
              <a:rPr sz="2000" spc="-35" dirty="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sz="2000" dirty="0">
                <a:solidFill>
                  <a:srgbClr val="3B3434"/>
                </a:solidFill>
                <a:latin typeface="Roboto Lt"/>
                <a:cs typeface="Roboto Lt"/>
              </a:rPr>
              <a:t>and</a:t>
            </a:r>
            <a:r>
              <a:rPr sz="2000" spc="-35" dirty="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sz="2000" dirty="0">
                <a:solidFill>
                  <a:srgbClr val="3B3434"/>
                </a:solidFill>
                <a:latin typeface="Roboto Lt"/>
                <a:cs typeface="Roboto Lt"/>
              </a:rPr>
              <a:t>raw</a:t>
            </a:r>
            <a:r>
              <a:rPr sz="2000" spc="-35" dirty="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sz="2000" dirty="0">
                <a:solidFill>
                  <a:srgbClr val="3B3434"/>
                </a:solidFill>
                <a:latin typeface="Roboto Lt"/>
                <a:cs typeface="Roboto Lt"/>
              </a:rPr>
              <a:t>file</a:t>
            </a:r>
            <a:r>
              <a:rPr sz="2000" spc="-40" dirty="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sz="2000" dirty="0">
                <a:solidFill>
                  <a:srgbClr val="3B3434"/>
                </a:solidFill>
                <a:latin typeface="Roboto Lt"/>
                <a:cs typeface="Roboto Lt"/>
              </a:rPr>
              <a:t>size</a:t>
            </a:r>
            <a:r>
              <a:rPr sz="2000" spc="-35" dirty="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sz="2000" dirty="0">
                <a:solidFill>
                  <a:srgbClr val="3B3434"/>
                </a:solidFill>
                <a:latin typeface="Roboto Lt"/>
                <a:cs typeface="Roboto Lt"/>
              </a:rPr>
              <a:t>—</a:t>
            </a:r>
            <a:r>
              <a:rPr sz="2000" spc="-35" dirty="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sz="2000" spc="-25" dirty="0">
                <a:solidFill>
                  <a:srgbClr val="3B3434"/>
                </a:solidFill>
                <a:latin typeface="Roboto Lt"/>
                <a:cs typeface="Roboto Lt"/>
              </a:rPr>
              <a:t>by </a:t>
            </a:r>
            <a:r>
              <a:rPr sz="2000" spc="-10" dirty="0">
                <a:solidFill>
                  <a:srgbClr val="3B3434"/>
                </a:solidFill>
                <a:latin typeface="Roboto Lt"/>
                <a:cs typeface="Roboto Lt"/>
              </a:rPr>
              <a:t>four.</a:t>
            </a:r>
            <a:r>
              <a:rPr sz="2000" spc="-30" dirty="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sz="2000" dirty="0">
                <a:solidFill>
                  <a:srgbClr val="3B3434"/>
                </a:solidFill>
                <a:latin typeface="Roboto Lt"/>
                <a:cs typeface="Roboto Lt"/>
              </a:rPr>
              <a:t>Systems</a:t>
            </a:r>
            <a:r>
              <a:rPr sz="2000" spc="-30" dirty="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sz="2000" dirty="0">
                <a:solidFill>
                  <a:srgbClr val="3B3434"/>
                </a:solidFill>
                <a:latin typeface="Roboto Lt"/>
                <a:cs typeface="Roboto Lt"/>
              </a:rPr>
              <a:t>must</a:t>
            </a:r>
            <a:r>
              <a:rPr sz="2000" spc="-30" dirty="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sz="2000" dirty="0">
                <a:solidFill>
                  <a:srgbClr val="3B3434"/>
                </a:solidFill>
                <a:latin typeface="Roboto Lt"/>
                <a:cs typeface="Roboto Lt"/>
              </a:rPr>
              <a:t>balance</a:t>
            </a:r>
            <a:r>
              <a:rPr sz="2000" spc="-30" dirty="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sz="2000" spc="-10" dirty="0">
                <a:solidFill>
                  <a:srgbClr val="3B3434"/>
                </a:solidFill>
                <a:latin typeface="Roboto Lt"/>
                <a:cs typeface="Roboto Lt"/>
              </a:rPr>
              <a:t>throughput,</a:t>
            </a:r>
            <a:r>
              <a:rPr sz="2000" spc="-25" dirty="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sz="2000" spc="-40" dirty="0">
                <a:solidFill>
                  <a:srgbClr val="3B3434"/>
                </a:solidFill>
                <a:latin typeface="Roboto Lt"/>
                <a:cs typeface="Roboto Lt"/>
              </a:rPr>
              <a:t>short-</a:t>
            </a:r>
            <a:r>
              <a:rPr sz="2000" dirty="0">
                <a:solidFill>
                  <a:srgbClr val="3B3434"/>
                </a:solidFill>
                <a:latin typeface="Roboto Lt"/>
                <a:cs typeface="Roboto Lt"/>
              </a:rPr>
              <a:t>term</a:t>
            </a:r>
            <a:r>
              <a:rPr sz="2000" spc="-30" dirty="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sz="2000" dirty="0">
                <a:solidFill>
                  <a:srgbClr val="3B3434"/>
                </a:solidFill>
                <a:latin typeface="Roboto Lt"/>
                <a:cs typeface="Roboto Lt"/>
              </a:rPr>
              <a:t>RAM/buffer</a:t>
            </a:r>
            <a:r>
              <a:rPr sz="2000" spc="-30" dirty="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sz="2000" dirty="0">
                <a:solidFill>
                  <a:srgbClr val="3B3434"/>
                </a:solidFill>
                <a:latin typeface="Roboto Lt"/>
                <a:cs typeface="Roboto Lt"/>
              </a:rPr>
              <a:t>needs,</a:t>
            </a:r>
            <a:r>
              <a:rPr sz="2000" spc="-30" dirty="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sz="2000" dirty="0">
                <a:solidFill>
                  <a:srgbClr val="3B3434"/>
                </a:solidFill>
                <a:latin typeface="Roboto Lt"/>
                <a:cs typeface="Roboto Lt"/>
              </a:rPr>
              <a:t>and</a:t>
            </a:r>
            <a:r>
              <a:rPr sz="2000" spc="-25" dirty="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sz="2000" spc="-50" dirty="0">
                <a:solidFill>
                  <a:srgbClr val="3B3434"/>
                </a:solidFill>
                <a:latin typeface="Roboto Lt"/>
                <a:cs typeface="Roboto Lt"/>
              </a:rPr>
              <a:t>long-</a:t>
            </a:r>
            <a:r>
              <a:rPr sz="2000" dirty="0">
                <a:solidFill>
                  <a:srgbClr val="3B3434"/>
                </a:solidFill>
                <a:latin typeface="Roboto Lt"/>
                <a:cs typeface="Roboto Lt"/>
              </a:rPr>
              <a:t>term</a:t>
            </a:r>
            <a:r>
              <a:rPr sz="2000" spc="-30" dirty="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sz="2000" spc="-10" dirty="0">
                <a:solidFill>
                  <a:srgbClr val="3B3434"/>
                </a:solidFill>
                <a:latin typeface="Roboto Lt"/>
                <a:cs typeface="Roboto Lt"/>
              </a:rPr>
              <a:t>archival</a:t>
            </a:r>
            <a:r>
              <a:rPr sz="2000" spc="-30" dirty="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sz="2000" spc="-10" dirty="0">
                <a:solidFill>
                  <a:srgbClr val="3B3434"/>
                </a:solidFill>
                <a:latin typeface="Roboto Lt"/>
                <a:cs typeface="Roboto Lt"/>
              </a:rPr>
              <a:t>storage</a:t>
            </a:r>
            <a:r>
              <a:rPr sz="2000" spc="-30" dirty="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sz="2000" dirty="0">
                <a:solidFill>
                  <a:srgbClr val="3B3434"/>
                </a:solidFill>
                <a:latin typeface="Roboto Lt"/>
                <a:cs typeface="Roboto Lt"/>
              </a:rPr>
              <a:t>when</a:t>
            </a:r>
            <a:r>
              <a:rPr sz="2000" spc="-30" dirty="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sz="2000" spc="-10" dirty="0">
                <a:solidFill>
                  <a:srgbClr val="3B3434"/>
                </a:solidFill>
                <a:latin typeface="Roboto Lt"/>
                <a:cs typeface="Roboto Lt"/>
              </a:rPr>
              <a:t>designing</a:t>
            </a:r>
            <a:r>
              <a:rPr sz="2000" spc="-25" dirty="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sz="2000" dirty="0">
                <a:solidFill>
                  <a:srgbClr val="3B3434"/>
                </a:solidFill>
                <a:latin typeface="Roboto Lt"/>
                <a:cs typeface="Roboto Lt"/>
              </a:rPr>
              <a:t>capture</a:t>
            </a:r>
            <a:r>
              <a:rPr sz="2000" spc="-30" dirty="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sz="2000" spc="-10" dirty="0">
                <a:solidFill>
                  <a:srgbClr val="3B3434"/>
                </a:solidFill>
                <a:latin typeface="Roboto Lt"/>
                <a:cs typeface="Roboto Lt"/>
              </a:rPr>
              <a:t>pipelines.</a:t>
            </a:r>
            <a:endParaRPr sz="2000">
              <a:latin typeface="Roboto Lt"/>
              <a:cs typeface="Roboto Lt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20590" y="3822025"/>
            <a:ext cx="3276600" cy="1924050"/>
          </a:xfrm>
          <a:custGeom>
            <a:avLst/>
            <a:gdLst/>
            <a:ahLst/>
            <a:cxnLst/>
            <a:rect l="l" t="t" r="r" b="b"/>
            <a:pathLst>
              <a:path w="3276600" h="1924050">
                <a:moveTo>
                  <a:pt x="3259321" y="1924050"/>
                </a:moveTo>
                <a:lnTo>
                  <a:pt x="17282" y="1924050"/>
                </a:lnTo>
                <a:lnTo>
                  <a:pt x="14740" y="1923545"/>
                </a:lnTo>
                <a:lnTo>
                  <a:pt x="0" y="1906771"/>
                </a:lnTo>
                <a:lnTo>
                  <a:pt x="0" y="1904123"/>
                </a:lnTo>
                <a:lnTo>
                  <a:pt x="0" y="17278"/>
                </a:lnTo>
                <a:lnTo>
                  <a:pt x="17282" y="0"/>
                </a:lnTo>
                <a:lnTo>
                  <a:pt x="3259321" y="0"/>
                </a:lnTo>
                <a:lnTo>
                  <a:pt x="3276600" y="17278"/>
                </a:lnTo>
                <a:lnTo>
                  <a:pt x="3276600" y="1906771"/>
                </a:lnTo>
                <a:lnTo>
                  <a:pt x="3261855" y="1923545"/>
                </a:lnTo>
                <a:lnTo>
                  <a:pt x="3259321" y="1924050"/>
                </a:lnTo>
                <a:close/>
              </a:path>
            </a:pathLst>
          </a:custGeom>
          <a:solidFill>
            <a:srgbClr val="F2E7E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775482" y="4087822"/>
            <a:ext cx="2955290" cy="108331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50" dirty="0">
                <a:solidFill>
                  <a:srgbClr val="3B3434"/>
                </a:solidFill>
                <a:latin typeface="Tahoma"/>
                <a:cs typeface="Tahoma"/>
              </a:rPr>
              <a:t>Scaling</a:t>
            </a:r>
            <a:r>
              <a:rPr sz="1450" spc="95" dirty="0">
                <a:solidFill>
                  <a:srgbClr val="3B3434"/>
                </a:solidFill>
                <a:latin typeface="Tahoma"/>
                <a:cs typeface="Tahoma"/>
              </a:rPr>
              <a:t> </a:t>
            </a:r>
            <a:r>
              <a:rPr sz="1450" spc="-10" dirty="0">
                <a:solidFill>
                  <a:srgbClr val="3B3434"/>
                </a:solidFill>
                <a:latin typeface="Tahoma"/>
                <a:cs typeface="Tahoma"/>
              </a:rPr>
              <a:t>Behavior</a:t>
            </a:r>
            <a:endParaRPr sz="1450">
              <a:latin typeface="Tahoma"/>
              <a:cs typeface="Tahoma"/>
            </a:endParaRPr>
          </a:p>
          <a:p>
            <a:pPr marL="12700" marR="5080">
              <a:lnSpc>
                <a:spcPct val="132500"/>
              </a:lnSpc>
              <a:spcBef>
                <a:spcPts val="595"/>
              </a:spcBef>
            </a:pPr>
            <a:r>
              <a:rPr sz="1250" dirty="0">
                <a:solidFill>
                  <a:srgbClr val="3B3434"/>
                </a:solidFill>
                <a:latin typeface="Roboto Lt"/>
                <a:cs typeface="Roboto Lt"/>
              </a:rPr>
              <a:t>Pixel</a:t>
            </a:r>
            <a:r>
              <a:rPr sz="1250" spc="-40" dirty="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sz="1250" dirty="0">
                <a:solidFill>
                  <a:srgbClr val="3B3434"/>
                </a:solidFill>
                <a:latin typeface="Roboto Lt"/>
                <a:cs typeface="Roboto Lt"/>
              </a:rPr>
              <a:t>count</a:t>
            </a:r>
            <a:r>
              <a:rPr sz="1250" spc="-40" dirty="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sz="1250" dirty="0">
                <a:solidFill>
                  <a:srgbClr val="3B3434"/>
                </a:solidFill>
                <a:latin typeface="Roboto Lt"/>
                <a:cs typeface="Roboto Lt"/>
              </a:rPr>
              <a:t>scales</a:t>
            </a:r>
            <a:r>
              <a:rPr sz="1250" spc="-40" dirty="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sz="1250" spc="-10" dirty="0">
                <a:solidFill>
                  <a:srgbClr val="3B3434"/>
                </a:solidFill>
                <a:latin typeface="Roboto Lt"/>
                <a:cs typeface="Roboto Lt"/>
              </a:rPr>
              <a:t>quadratically</a:t>
            </a:r>
            <a:r>
              <a:rPr sz="1250" spc="-40" dirty="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sz="1250" dirty="0">
                <a:solidFill>
                  <a:srgbClr val="3B3434"/>
                </a:solidFill>
                <a:latin typeface="Roboto Lt"/>
                <a:cs typeface="Roboto Lt"/>
              </a:rPr>
              <a:t>with</a:t>
            </a:r>
            <a:r>
              <a:rPr sz="1250" spc="-40" dirty="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sz="1250" spc="-10" dirty="0">
                <a:solidFill>
                  <a:srgbClr val="3B3434"/>
                </a:solidFill>
                <a:latin typeface="Roboto Lt"/>
                <a:cs typeface="Roboto Lt"/>
              </a:rPr>
              <a:t>linear resolution</a:t>
            </a:r>
            <a:r>
              <a:rPr sz="1250" spc="-20" dirty="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sz="1250" dirty="0">
                <a:solidFill>
                  <a:srgbClr val="3B3434"/>
                </a:solidFill>
                <a:latin typeface="Roboto Lt"/>
                <a:cs typeface="Roboto Lt"/>
              </a:rPr>
              <a:t>—</a:t>
            </a:r>
            <a:r>
              <a:rPr sz="1250" spc="-15" dirty="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sz="1250" dirty="0">
                <a:solidFill>
                  <a:srgbClr val="3B3434"/>
                </a:solidFill>
                <a:latin typeface="Roboto Lt"/>
                <a:cs typeface="Roboto Lt"/>
              </a:rPr>
              <a:t>plan</a:t>
            </a:r>
            <a:r>
              <a:rPr sz="1250" spc="-15" dirty="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sz="1250" dirty="0">
                <a:solidFill>
                  <a:srgbClr val="3B3434"/>
                </a:solidFill>
                <a:latin typeface="Roboto Lt"/>
                <a:cs typeface="Roboto Lt"/>
              </a:rPr>
              <a:t>for</a:t>
            </a:r>
            <a:r>
              <a:rPr sz="1250" spc="-20" dirty="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sz="1250" spc="-10" dirty="0">
                <a:solidFill>
                  <a:srgbClr val="3B3434"/>
                </a:solidFill>
                <a:latin typeface="Roboto Lt"/>
                <a:cs typeface="Roboto Lt"/>
              </a:rPr>
              <a:t>exponential</a:t>
            </a:r>
            <a:r>
              <a:rPr sz="1250" spc="-15" dirty="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sz="1250" spc="-10" dirty="0">
                <a:solidFill>
                  <a:srgbClr val="3B3434"/>
                </a:solidFill>
                <a:latin typeface="Roboto Lt"/>
                <a:cs typeface="Roboto Lt"/>
              </a:rPr>
              <a:t>storage </a:t>
            </a:r>
            <a:r>
              <a:rPr sz="1250" dirty="0">
                <a:solidFill>
                  <a:srgbClr val="3B3434"/>
                </a:solidFill>
                <a:latin typeface="Roboto Lt"/>
                <a:cs typeface="Roboto Lt"/>
              </a:rPr>
              <a:t>growth</a:t>
            </a:r>
            <a:r>
              <a:rPr sz="1250" spc="-55" dirty="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sz="1250" dirty="0">
                <a:solidFill>
                  <a:srgbClr val="3B3434"/>
                </a:solidFill>
                <a:latin typeface="Roboto Lt"/>
                <a:cs typeface="Roboto Lt"/>
              </a:rPr>
              <a:t>when</a:t>
            </a:r>
            <a:r>
              <a:rPr sz="1250" spc="-55" dirty="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sz="1250" spc="-10" dirty="0">
                <a:solidFill>
                  <a:srgbClr val="3B3434"/>
                </a:solidFill>
                <a:latin typeface="Roboto Lt"/>
                <a:cs typeface="Roboto Lt"/>
              </a:rPr>
              <a:t>upgrading</a:t>
            </a:r>
            <a:r>
              <a:rPr sz="1250" spc="-50" dirty="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sz="1250" spc="-10" dirty="0">
                <a:solidFill>
                  <a:srgbClr val="3B3434"/>
                </a:solidFill>
                <a:latin typeface="Roboto Lt"/>
                <a:cs typeface="Roboto Lt"/>
              </a:rPr>
              <a:t>sensors.</a:t>
            </a:r>
            <a:endParaRPr sz="1250">
              <a:latin typeface="Roboto Lt"/>
              <a:cs typeface="Roboto Lt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4076700" y="3822025"/>
            <a:ext cx="3276600" cy="1924050"/>
          </a:xfrm>
          <a:custGeom>
            <a:avLst/>
            <a:gdLst/>
            <a:ahLst/>
            <a:cxnLst/>
            <a:rect l="l" t="t" r="r" b="b"/>
            <a:pathLst>
              <a:path w="3276600" h="1924050">
                <a:moveTo>
                  <a:pt x="3259321" y="1924050"/>
                </a:moveTo>
                <a:lnTo>
                  <a:pt x="17278" y="1924050"/>
                </a:lnTo>
                <a:lnTo>
                  <a:pt x="14744" y="1923545"/>
                </a:lnTo>
                <a:lnTo>
                  <a:pt x="0" y="1906771"/>
                </a:lnTo>
                <a:lnTo>
                  <a:pt x="0" y="1904123"/>
                </a:lnTo>
                <a:lnTo>
                  <a:pt x="0" y="17278"/>
                </a:lnTo>
                <a:lnTo>
                  <a:pt x="17278" y="0"/>
                </a:lnTo>
                <a:lnTo>
                  <a:pt x="3259321" y="0"/>
                </a:lnTo>
                <a:lnTo>
                  <a:pt x="3276600" y="17278"/>
                </a:lnTo>
                <a:lnTo>
                  <a:pt x="3276600" y="1906771"/>
                </a:lnTo>
                <a:lnTo>
                  <a:pt x="3261855" y="1923545"/>
                </a:lnTo>
                <a:lnTo>
                  <a:pt x="3259321" y="1924050"/>
                </a:lnTo>
                <a:close/>
              </a:path>
            </a:pathLst>
          </a:custGeom>
          <a:solidFill>
            <a:srgbClr val="F2E7E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4239938" y="3982351"/>
            <a:ext cx="2952115" cy="159766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50" spc="10" dirty="0">
                <a:solidFill>
                  <a:srgbClr val="3B3434"/>
                </a:solidFill>
                <a:latin typeface="Tahoma"/>
                <a:cs typeface="Tahoma"/>
              </a:rPr>
              <a:t>Compression</a:t>
            </a:r>
            <a:r>
              <a:rPr sz="1450" spc="135" dirty="0">
                <a:solidFill>
                  <a:srgbClr val="3B3434"/>
                </a:solidFill>
                <a:latin typeface="Tahoma"/>
                <a:cs typeface="Tahoma"/>
              </a:rPr>
              <a:t> </a:t>
            </a:r>
            <a:r>
              <a:rPr sz="1450" spc="-10" dirty="0">
                <a:solidFill>
                  <a:srgbClr val="3B3434"/>
                </a:solidFill>
                <a:latin typeface="Tahoma"/>
                <a:cs typeface="Tahoma"/>
              </a:rPr>
              <a:t>Options</a:t>
            </a:r>
            <a:endParaRPr sz="1450">
              <a:latin typeface="Tahoma"/>
              <a:cs typeface="Tahoma"/>
            </a:endParaRPr>
          </a:p>
          <a:p>
            <a:pPr marL="12700" marR="5080">
              <a:lnSpc>
                <a:spcPct val="133800"/>
              </a:lnSpc>
              <a:spcBef>
                <a:spcPts val="580"/>
              </a:spcBef>
            </a:pPr>
            <a:r>
              <a:rPr sz="1250" spc="-10" dirty="0">
                <a:solidFill>
                  <a:srgbClr val="3B3434"/>
                </a:solidFill>
                <a:latin typeface="Roboto Lt"/>
                <a:cs typeface="Roboto Lt"/>
              </a:rPr>
              <a:t>Lossy</a:t>
            </a:r>
            <a:r>
              <a:rPr sz="1250" spc="-20" dirty="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sz="1250" dirty="0">
                <a:solidFill>
                  <a:srgbClr val="3B3434"/>
                </a:solidFill>
                <a:latin typeface="Roboto Lt"/>
                <a:cs typeface="Roboto Lt"/>
              </a:rPr>
              <a:t>codecs</a:t>
            </a:r>
            <a:r>
              <a:rPr sz="1250" spc="-15" dirty="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sz="1250" dirty="0">
                <a:solidFill>
                  <a:srgbClr val="3B3434"/>
                </a:solidFill>
                <a:latin typeface="Roboto Lt"/>
                <a:cs typeface="Roboto Lt"/>
              </a:rPr>
              <a:t>(JPEG,</a:t>
            </a:r>
            <a:r>
              <a:rPr sz="1250" spc="-15" dirty="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sz="1250" dirty="0">
                <a:solidFill>
                  <a:srgbClr val="3B3434"/>
                </a:solidFill>
                <a:latin typeface="Roboto Lt"/>
                <a:cs typeface="Roboto Lt"/>
              </a:rPr>
              <a:t>H.264)</a:t>
            </a:r>
            <a:r>
              <a:rPr sz="1250" spc="-20" dirty="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sz="1250" dirty="0">
                <a:solidFill>
                  <a:srgbClr val="3B3434"/>
                </a:solidFill>
                <a:latin typeface="Roboto Lt"/>
                <a:cs typeface="Roboto Lt"/>
              </a:rPr>
              <a:t>reduce</a:t>
            </a:r>
            <a:r>
              <a:rPr sz="1250" spc="-15" dirty="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sz="1250" spc="-20" dirty="0">
                <a:solidFill>
                  <a:srgbClr val="3B3434"/>
                </a:solidFill>
                <a:latin typeface="Roboto Lt"/>
                <a:cs typeface="Roboto Lt"/>
              </a:rPr>
              <a:t>size </a:t>
            </a:r>
            <a:r>
              <a:rPr sz="1250" spc="-10" dirty="0">
                <a:solidFill>
                  <a:srgbClr val="3B3434"/>
                </a:solidFill>
                <a:latin typeface="Roboto Lt"/>
                <a:cs typeface="Roboto Lt"/>
              </a:rPr>
              <a:t>dramatically;</a:t>
            </a:r>
            <a:r>
              <a:rPr sz="1250" spc="-40" dirty="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sz="1250" dirty="0">
                <a:solidFill>
                  <a:srgbClr val="3B3434"/>
                </a:solidFill>
                <a:latin typeface="Roboto Lt"/>
                <a:cs typeface="Roboto Lt"/>
              </a:rPr>
              <a:t>lossless</a:t>
            </a:r>
            <a:r>
              <a:rPr sz="1250" spc="-40" dirty="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sz="1250" dirty="0">
                <a:solidFill>
                  <a:srgbClr val="3B3434"/>
                </a:solidFill>
                <a:latin typeface="Roboto Lt"/>
                <a:cs typeface="Roboto Lt"/>
              </a:rPr>
              <a:t>formats</a:t>
            </a:r>
            <a:r>
              <a:rPr sz="1250" spc="-35" dirty="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sz="1250" dirty="0">
                <a:solidFill>
                  <a:srgbClr val="3B3434"/>
                </a:solidFill>
                <a:latin typeface="Roboto Lt"/>
                <a:cs typeface="Roboto Lt"/>
              </a:rPr>
              <a:t>(PNG,</a:t>
            </a:r>
            <a:r>
              <a:rPr sz="1250" spc="-60" dirty="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sz="1250" spc="-20" dirty="0">
                <a:solidFill>
                  <a:srgbClr val="3B3434"/>
                </a:solidFill>
                <a:latin typeface="Roboto Lt"/>
                <a:cs typeface="Roboto Lt"/>
              </a:rPr>
              <a:t>TIFF) </a:t>
            </a:r>
            <a:r>
              <a:rPr sz="1250" dirty="0">
                <a:solidFill>
                  <a:srgbClr val="3B3434"/>
                </a:solidFill>
                <a:latin typeface="Roboto Lt"/>
                <a:cs typeface="Roboto Lt"/>
              </a:rPr>
              <a:t>preserve</a:t>
            </a:r>
            <a:r>
              <a:rPr sz="1250" spc="-45" dirty="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sz="1250" dirty="0">
                <a:solidFill>
                  <a:srgbClr val="3B3434"/>
                </a:solidFill>
                <a:latin typeface="Roboto Lt"/>
                <a:cs typeface="Roboto Lt"/>
              </a:rPr>
              <a:t>fidelity</a:t>
            </a:r>
            <a:r>
              <a:rPr sz="1250" spc="-40" dirty="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sz="1250" dirty="0">
                <a:solidFill>
                  <a:srgbClr val="3B3434"/>
                </a:solidFill>
                <a:latin typeface="Roboto Lt"/>
                <a:cs typeface="Roboto Lt"/>
              </a:rPr>
              <a:t>at</a:t>
            </a:r>
            <a:r>
              <a:rPr sz="1250" spc="-40" dirty="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sz="1250" dirty="0">
                <a:solidFill>
                  <a:srgbClr val="3B3434"/>
                </a:solidFill>
                <a:latin typeface="Roboto Lt"/>
                <a:cs typeface="Roboto Lt"/>
              </a:rPr>
              <a:t>higher</a:t>
            </a:r>
            <a:r>
              <a:rPr sz="1250" spc="-40" dirty="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sz="1250" dirty="0">
                <a:solidFill>
                  <a:srgbClr val="3B3434"/>
                </a:solidFill>
                <a:latin typeface="Roboto Lt"/>
                <a:cs typeface="Roboto Lt"/>
              </a:rPr>
              <a:t>cost.</a:t>
            </a:r>
            <a:r>
              <a:rPr sz="1250" spc="-40" dirty="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sz="1250" spc="-20" dirty="0">
                <a:solidFill>
                  <a:srgbClr val="3B3434"/>
                </a:solidFill>
                <a:latin typeface="Roboto Lt"/>
                <a:cs typeface="Roboto Lt"/>
              </a:rPr>
              <a:t>Newer </a:t>
            </a:r>
            <a:r>
              <a:rPr sz="1250" dirty="0">
                <a:solidFill>
                  <a:srgbClr val="3B3434"/>
                </a:solidFill>
                <a:latin typeface="Roboto Lt"/>
                <a:cs typeface="Roboto Lt"/>
              </a:rPr>
              <a:t>codecs</a:t>
            </a:r>
            <a:r>
              <a:rPr sz="1250" spc="-5" dirty="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sz="1250" dirty="0">
                <a:solidFill>
                  <a:srgbClr val="3B3434"/>
                </a:solidFill>
                <a:latin typeface="Roboto Lt"/>
                <a:cs typeface="Roboto Lt"/>
              </a:rPr>
              <a:t>(JPEG2000, HEIF) offer</a:t>
            </a:r>
            <a:r>
              <a:rPr sz="1250" spc="-5" dirty="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sz="1250" dirty="0">
                <a:solidFill>
                  <a:srgbClr val="3B3434"/>
                </a:solidFill>
                <a:latin typeface="Roboto Lt"/>
                <a:cs typeface="Roboto Lt"/>
              </a:rPr>
              <a:t>ROI </a:t>
            </a:r>
            <a:r>
              <a:rPr sz="1250" spc="-25" dirty="0">
                <a:solidFill>
                  <a:srgbClr val="3B3434"/>
                </a:solidFill>
                <a:latin typeface="Roboto Lt"/>
                <a:cs typeface="Roboto Lt"/>
              </a:rPr>
              <a:t>and </a:t>
            </a:r>
            <a:r>
              <a:rPr sz="1250" dirty="0">
                <a:solidFill>
                  <a:srgbClr val="3B3434"/>
                </a:solidFill>
                <a:latin typeface="Roboto Lt"/>
                <a:cs typeface="Roboto Lt"/>
              </a:rPr>
              <a:t>scalable</a:t>
            </a:r>
            <a:r>
              <a:rPr sz="1250" spc="-65" dirty="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sz="1250" spc="-10" dirty="0">
                <a:solidFill>
                  <a:srgbClr val="3B3434"/>
                </a:solidFill>
                <a:latin typeface="Roboto Lt"/>
                <a:cs typeface="Roboto Lt"/>
              </a:rPr>
              <a:t>quality.</a:t>
            </a:r>
            <a:endParaRPr sz="1250">
              <a:latin typeface="Roboto Lt"/>
              <a:cs typeface="Roboto Lt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7778994" y="3655030"/>
            <a:ext cx="3276600" cy="1924050"/>
          </a:xfrm>
          <a:custGeom>
            <a:avLst/>
            <a:gdLst/>
            <a:ahLst/>
            <a:cxnLst/>
            <a:rect l="l" t="t" r="r" b="b"/>
            <a:pathLst>
              <a:path w="3276600" h="1924050">
                <a:moveTo>
                  <a:pt x="3259359" y="1924050"/>
                </a:moveTo>
                <a:lnTo>
                  <a:pt x="17278" y="1924050"/>
                </a:lnTo>
                <a:lnTo>
                  <a:pt x="14735" y="1923545"/>
                </a:lnTo>
                <a:lnTo>
                  <a:pt x="0" y="1906771"/>
                </a:lnTo>
                <a:lnTo>
                  <a:pt x="0" y="1904123"/>
                </a:lnTo>
                <a:lnTo>
                  <a:pt x="0" y="17278"/>
                </a:lnTo>
                <a:lnTo>
                  <a:pt x="17278" y="0"/>
                </a:lnTo>
                <a:lnTo>
                  <a:pt x="3259359" y="0"/>
                </a:lnTo>
                <a:lnTo>
                  <a:pt x="3276600" y="17278"/>
                </a:lnTo>
                <a:lnTo>
                  <a:pt x="3276600" y="1906771"/>
                </a:lnTo>
                <a:lnTo>
                  <a:pt x="3261836" y="1923545"/>
                </a:lnTo>
                <a:lnTo>
                  <a:pt x="3259359" y="1924050"/>
                </a:lnTo>
                <a:close/>
              </a:path>
            </a:pathLst>
          </a:custGeom>
          <a:solidFill>
            <a:srgbClr val="F2E7E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7985745" y="3947194"/>
            <a:ext cx="2850515" cy="13404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50" dirty="0">
                <a:solidFill>
                  <a:srgbClr val="3B3434"/>
                </a:solidFill>
                <a:latin typeface="Tahoma"/>
                <a:cs typeface="Tahoma"/>
              </a:rPr>
              <a:t>Infrastructure</a:t>
            </a:r>
            <a:r>
              <a:rPr sz="1450" spc="-100" dirty="0">
                <a:solidFill>
                  <a:srgbClr val="3B3434"/>
                </a:solidFill>
                <a:latin typeface="Tahoma"/>
                <a:cs typeface="Tahoma"/>
              </a:rPr>
              <a:t> </a:t>
            </a:r>
            <a:r>
              <a:rPr sz="1450" spc="-10" dirty="0">
                <a:solidFill>
                  <a:srgbClr val="3B3434"/>
                </a:solidFill>
                <a:latin typeface="Tahoma"/>
                <a:cs typeface="Tahoma"/>
              </a:rPr>
              <a:t>Constraints</a:t>
            </a:r>
            <a:endParaRPr sz="1450">
              <a:latin typeface="Tahoma"/>
              <a:cs typeface="Tahoma"/>
            </a:endParaRPr>
          </a:p>
          <a:p>
            <a:pPr marL="12700" marR="5080">
              <a:lnSpc>
                <a:spcPct val="133300"/>
              </a:lnSpc>
              <a:spcBef>
                <a:spcPts val="585"/>
              </a:spcBef>
            </a:pPr>
            <a:r>
              <a:rPr sz="1250" dirty="0">
                <a:solidFill>
                  <a:srgbClr val="3B3434"/>
                </a:solidFill>
                <a:latin typeface="Roboto Lt"/>
                <a:cs typeface="Roboto Lt"/>
              </a:rPr>
              <a:t>RAM</a:t>
            </a:r>
            <a:r>
              <a:rPr sz="1250" spc="-25" dirty="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sz="1250" dirty="0">
                <a:solidFill>
                  <a:srgbClr val="3B3434"/>
                </a:solidFill>
                <a:latin typeface="Roboto Lt"/>
                <a:cs typeface="Roboto Lt"/>
              </a:rPr>
              <a:t>and</a:t>
            </a:r>
            <a:r>
              <a:rPr sz="1250" spc="-25" dirty="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sz="1250" dirty="0">
                <a:solidFill>
                  <a:srgbClr val="3B3434"/>
                </a:solidFill>
                <a:latin typeface="Roboto Lt"/>
                <a:cs typeface="Roboto Lt"/>
              </a:rPr>
              <a:t>I/O</a:t>
            </a:r>
            <a:r>
              <a:rPr sz="1250" spc="-20" dirty="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sz="1250" spc="-10" dirty="0">
                <a:solidFill>
                  <a:srgbClr val="3B3434"/>
                </a:solidFill>
                <a:latin typeface="Roboto Lt"/>
                <a:cs typeface="Roboto Lt"/>
              </a:rPr>
              <a:t>bandwidth</a:t>
            </a:r>
            <a:r>
              <a:rPr sz="1250" spc="-25" dirty="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sz="1250" dirty="0">
                <a:solidFill>
                  <a:srgbClr val="3B3434"/>
                </a:solidFill>
                <a:latin typeface="Roboto Lt"/>
                <a:cs typeface="Roboto Lt"/>
              </a:rPr>
              <a:t>must</a:t>
            </a:r>
            <a:r>
              <a:rPr sz="1250" spc="-25" dirty="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sz="1250" spc="-20" dirty="0">
                <a:solidFill>
                  <a:srgbClr val="3B3434"/>
                </a:solidFill>
                <a:latin typeface="Roboto Lt"/>
                <a:cs typeface="Roboto Lt"/>
              </a:rPr>
              <a:t>match </a:t>
            </a:r>
            <a:r>
              <a:rPr sz="1250" dirty="0">
                <a:solidFill>
                  <a:srgbClr val="3B3434"/>
                </a:solidFill>
                <a:latin typeface="Roboto Lt"/>
                <a:cs typeface="Roboto Lt"/>
              </a:rPr>
              <a:t>capture</a:t>
            </a:r>
            <a:r>
              <a:rPr sz="1250" spc="-35" dirty="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sz="1250" dirty="0">
                <a:solidFill>
                  <a:srgbClr val="3B3434"/>
                </a:solidFill>
                <a:latin typeface="Roboto Lt"/>
                <a:cs typeface="Roboto Lt"/>
              </a:rPr>
              <a:t>rates;</a:t>
            </a:r>
            <a:r>
              <a:rPr sz="1250" spc="-30" dirty="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sz="1250" spc="-55" dirty="0">
                <a:solidFill>
                  <a:srgbClr val="3B3434"/>
                </a:solidFill>
                <a:latin typeface="Roboto Lt"/>
                <a:cs typeface="Roboto Lt"/>
              </a:rPr>
              <a:t>high-</a:t>
            </a:r>
            <a:r>
              <a:rPr sz="1250" spc="-10" dirty="0">
                <a:solidFill>
                  <a:srgbClr val="3B3434"/>
                </a:solidFill>
                <a:latin typeface="Roboto Lt"/>
                <a:cs typeface="Roboto Lt"/>
              </a:rPr>
              <a:t>gigapixel</a:t>
            </a:r>
            <a:r>
              <a:rPr sz="1250" spc="-35" dirty="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sz="1250" spc="-10" dirty="0">
                <a:solidFill>
                  <a:srgbClr val="3B3434"/>
                </a:solidFill>
                <a:latin typeface="Roboto Lt"/>
                <a:cs typeface="Roboto Lt"/>
              </a:rPr>
              <a:t>mosaics </a:t>
            </a:r>
            <a:r>
              <a:rPr sz="1250" dirty="0">
                <a:solidFill>
                  <a:srgbClr val="3B3434"/>
                </a:solidFill>
                <a:latin typeface="Roboto Lt"/>
                <a:cs typeface="Roboto Lt"/>
              </a:rPr>
              <a:t>often</a:t>
            </a:r>
            <a:r>
              <a:rPr sz="1250" spc="-35" dirty="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sz="1250" dirty="0">
                <a:solidFill>
                  <a:srgbClr val="3B3434"/>
                </a:solidFill>
                <a:latin typeface="Roboto Lt"/>
                <a:cs typeface="Roboto Lt"/>
              </a:rPr>
              <a:t>require</a:t>
            </a:r>
            <a:r>
              <a:rPr sz="1250" spc="-30" dirty="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sz="1250" dirty="0">
                <a:solidFill>
                  <a:srgbClr val="3B3434"/>
                </a:solidFill>
                <a:latin typeface="Roboto Lt"/>
                <a:cs typeface="Roboto Lt"/>
              </a:rPr>
              <a:t>tiled</a:t>
            </a:r>
            <a:r>
              <a:rPr sz="1250" spc="-30" dirty="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sz="1250" spc="-10" dirty="0">
                <a:solidFill>
                  <a:srgbClr val="3B3434"/>
                </a:solidFill>
                <a:latin typeface="Roboto Lt"/>
                <a:cs typeface="Roboto Lt"/>
              </a:rPr>
              <a:t>storage</a:t>
            </a:r>
            <a:r>
              <a:rPr sz="1250" spc="-30" dirty="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sz="1250" dirty="0">
                <a:solidFill>
                  <a:srgbClr val="3B3434"/>
                </a:solidFill>
                <a:latin typeface="Roboto Lt"/>
                <a:cs typeface="Roboto Lt"/>
              </a:rPr>
              <a:t>and</a:t>
            </a:r>
            <a:r>
              <a:rPr sz="1250" spc="-30" dirty="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sz="1250" spc="-10" dirty="0">
                <a:solidFill>
                  <a:srgbClr val="3B3434"/>
                </a:solidFill>
                <a:latin typeface="Roboto Lt"/>
                <a:cs typeface="Roboto Lt"/>
              </a:rPr>
              <a:t>streaming processing</a:t>
            </a:r>
            <a:r>
              <a:rPr sz="1250" spc="-25" dirty="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sz="1250" dirty="0">
                <a:solidFill>
                  <a:srgbClr val="3B3434"/>
                </a:solidFill>
                <a:latin typeface="Roboto Lt"/>
                <a:cs typeface="Roboto Lt"/>
              </a:rPr>
              <a:t>to</a:t>
            </a:r>
            <a:r>
              <a:rPr sz="1250" spc="-25" dirty="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sz="1250" dirty="0">
                <a:solidFill>
                  <a:srgbClr val="3B3434"/>
                </a:solidFill>
                <a:latin typeface="Roboto Lt"/>
                <a:cs typeface="Roboto Lt"/>
              </a:rPr>
              <a:t>avoid</a:t>
            </a:r>
            <a:r>
              <a:rPr sz="1250" spc="-20" dirty="0">
                <a:solidFill>
                  <a:srgbClr val="3B3434"/>
                </a:solidFill>
                <a:latin typeface="Roboto Lt"/>
                <a:cs typeface="Roboto Lt"/>
              </a:rPr>
              <a:t> </a:t>
            </a:r>
            <a:r>
              <a:rPr sz="1250" spc="-10" dirty="0">
                <a:solidFill>
                  <a:srgbClr val="3B3434"/>
                </a:solidFill>
                <a:latin typeface="Roboto Lt"/>
                <a:cs typeface="Roboto Lt"/>
              </a:rPr>
              <a:t>bottlenecks.</a:t>
            </a:r>
            <a:endParaRPr sz="1250">
              <a:latin typeface="Roboto Lt"/>
              <a:cs typeface="Roboto L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6CCBF5-8256-290E-BC5E-49EF5CBEE7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30823" y="3099621"/>
            <a:ext cx="6462347" cy="2708434"/>
          </a:xfrm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2800" b="1">
                <a:latin typeface="Times New Roman"/>
                <a:cs typeface="Times New Roman"/>
              </a:rPr>
              <a:t>Factors Affecting Storage Requirements:</a:t>
            </a:r>
            <a:endParaRPr lang="en-US" sz="2800">
              <a:latin typeface="Times New Roman"/>
              <a:cs typeface="Times New Roman"/>
            </a:endParaRPr>
          </a:p>
          <a:p>
            <a:pPr algn="l"/>
            <a:endParaRPr lang="en-US" sz="2800" b="1" dirty="0">
              <a:latin typeface="Times New Roman"/>
              <a:cs typeface="Times New Roman"/>
            </a:endParaRPr>
          </a:p>
          <a:p>
            <a:pPr marL="342900" indent="-342900" algn="l">
              <a:buFont typeface="Arial"/>
              <a:buChar char="•"/>
            </a:pPr>
            <a:r>
              <a:rPr lang="en-US" sz="2400">
                <a:latin typeface="Times New Roman"/>
                <a:cs typeface="Times New Roman"/>
              </a:rPr>
              <a:t>Image resolution </a:t>
            </a:r>
            <a:endParaRPr lang="en-US" sz="2400" dirty="0">
              <a:latin typeface="Times New Roman"/>
              <a:cs typeface="Times New Roman"/>
            </a:endParaRPr>
          </a:p>
          <a:p>
            <a:pPr marL="342900" indent="-342900" algn="l">
              <a:buFont typeface="Arial"/>
              <a:buChar char="•"/>
            </a:pPr>
            <a:r>
              <a:rPr lang="en-US" sz="2400">
                <a:latin typeface="Times New Roman"/>
                <a:cs typeface="Times New Roman"/>
              </a:rPr>
              <a:t>Color depth (8-bit, 24-bit, etc.) </a:t>
            </a:r>
            <a:endParaRPr lang="en-US" sz="2400" dirty="0">
              <a:latin typeface="Times New Roman"/>
              <a:cs typeface="Times New Roman"/>
            </a:endParaRPr>
          </a:p>
          <a:p>
            <a:pPr marL="342900" indent="-342900" algn="l">
              <a:buFont typeface="Arial"/>
              <a:buChar char="•"/>
            </a:pPr>
            <a:r>
              <a:rPr lang="en-US" sz="2400">
                <a:latin typeface="Times New Roman"/>
                <a:cs typeface="Times New Roman"/>
              </a:rPr>
              <a:t>Compression method (JPEG, PNG, BMP) </a:t>
            </a:r>
            <a:endParaRPr lang="en-US" sz="2400" dirty="0">
              <a:latin typeface="Times New Roman"/>
              <a:cs typeface="Times New Roman"/>
            </a:endParaRPr>
          </a:p>
          <a:p>
            <a:pPr marL="342900" indent="-342900" algn="l">
              <a:buFont typeface="Arial"/>
              <a:buChar char="•"/>
            </a:pPr>
            <a:r>
              <a:rPr lang="en-US" sz="2400">
                <a:latin typeface="Times New Roman"/>
                <a:cs typeface="Times New Roman"/>
              </a:rPr>
              <a:t>Number of images or video frames</a:t>
            </a:r>
            <a:endParaRPr lang="en-US" sz="2400" dirty="0">
              <a:latin typeface="Times New Roman"/>
              <a:cs typeface="Times New Roman"/>
            </a:endParaRPr>
          </a:p>
          <a:p>
            <a:endParaRPr lang="en-US" sz="2400" dirty="0">
              <a:latin typeface="Times New Roman"/>
              <a:cs typeface="Times New Roman"/>
            </a:endParaRPr>
          </a:p>
        </p:txBody>
      </p:sp>
      <p:pic>
        <p:nvPicPr>
          <p:cNvPr id="4" name="Picture 3" descr="235,905 Computer Vision Royalty-Free Images, Stock Photos &amp; Pictures |  Shutterstock">
            <a:extLst>
              <a:ext uri="{FF2B5EF4-FFF2-40B4-BE49-F238E27FC236}">
                <a16:creationId xmlns:a16="http://schemas.microsoft.com/office/drawing/2014/main" id="{D784B1D3-01C1-8CED-AC54-E8D9A4C26A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05349" y="-1935"/>
            <a:ext cx="4920850" cy="29394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71307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44BE559-323C-A716-6CE8-D4EFF6ECF7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87705104"/>
              </p:ext>
            </p:extLst>
          </p:nvPr>
        </p:nvGraphicFramePr>
        <p:xfrm>
          <a:off x="1345223" y="1423851"/>
          <a:ext cx="9012798" cy="43881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04266">
                  <a:extLst>
                    <a:ext uri="{9D8B030D-6E8A-4147-A177-3AD203B41FA5}">
                      <a16:colId xmlns:a16="http://schemas.microsoft.com/office/drawing/2014/main" val="428067452"/>
                    </a:ext>
                  </a:extLst>
                </a:gridCol>
                <a:gridCol w="3004266">
                  <a:extLst>
                    <a:ext uri="{9D8B030D-6E8A-4147-A177-3AD203B41FA5}">
                      <a16:colId xmlns:a16="http://schemas.microsoft.com/office/drawing/2014/main" val="2152614106"/>
                    </a:ext>
                  </a:extLst>
                </a:gridCol>
                <a:gridCol w="3004266">
                  <a:extLst>
                    <a:ext uri="{9D8B030D-6E8A-4147-A177-3AD203B41FA5}">
                      <a16:colId xmlns:a16="http://schemas.microsoft.com/office/drawing/2014/main" val="3169432353"/>
                    </a:ext>
                  </a:extLst>
                </a:gridCol>
              </a:tblGrid>
              <a:tr h="548517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00398132"/>
                  </a:ext>
                </a:extLst>
              </a:tr>
              <a:tr h="548517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60527038"/>
                  </a:ext>
                </a:extLst>
              </a:tr>
              <a:tr h="548517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3421360"/>
                  </a:ext>
                </a:extLst>
              </a:tr>
              <a:tr h="548517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77688799"/>
                  </a:ext>
                </a:extLst>
              </a:tr>
              <a:tr h="548517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5164158"/>
                  </a:ext>
                </a:extLst>
              </a:tr>
              <a:tr h="548517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29374942"/>
                  </a:ext>
                </a:extLst>
              </a:tr>
              <a:tr h="548517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13959841"/>
                  </a:ext>
                </a:extLst>
              </a:tr>
              <a:tr h="548517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00511056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73108511-966B-10DB-153B-60A04759CB7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94764279"/>
              </p:ext>
            </p:extLst>
          </p:nvPr>
        </p:nvGraphicFramePr>
        <p:xfrm>
          <a:off x="1345224" y="1423850"/>
          <a:ext cx="9109995" cy="4114804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3036665">
                  <a:extLst>
                    <a:ext uri="{9D8B030D-6E8A-4147-A177-3AD203B41FA5}">
                      <a16:colId xmlns:a16="http://schemas.microsoft.com/office/drawing/2014/main" val="3176564809"/>
                    </a:ext>
                  </a:extLst>
                </a:gridCol>
                <a:gridCol w="3036665">
                  <a:extLst>
                    <a:ext uri="{9D8B030D-6E8A-4147-A177-3AD203B41FA5}">
                      <a16:colId xmlns:a16="http://schemas.microsoft.com/office/drawing/2014/main" val="3678813127"/>
                    </a:ext>
                  </a:extLst>
                </a:gridCol>
                <a:gridCol w="3036665">
                  <a:extLst>
                    <a:ext uri="{9D8B030D-6E8A-4147-A177-3AD203B41FA5}">
                      <a16:colId xmlns:a16="http://schemas.microsoft.com/office/drawing/2014/main" val="999651345"/>
                    </a:ext>
                  </a:extLst>
                </a:gridCol>
              </a:tblGrid>
              <a:tr h="4982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Parameter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Low Resolution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High Resolution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99751753"/>
                  </a:ext>
                </a:extLst>
              </a:tr>
              <a:tr h="51665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Image Quality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Moderate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Excellent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87832791"/>
                  </a:ext>
                </a:extLst>
              </a:tr>
              <a:tr h="51665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Pixel Count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Low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High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90388374"/>
                  </a:ext>
                </a:extLst>
              </a:tr>
              <a:tr h="51665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Storage Requirement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Low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High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26946930"/>
                  </a:ext>
                </a:extLst>
              </a:tr>
              <a:tr h="51665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Memory Usage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Low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High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13691094"/>
                  </a:ext>
                </a:extLst>
              </a:tr>
              <a:tr h="51665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Processing Speed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Fast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Slower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14809231"/>
                  </a:ext>
                </a:extLst>
              </a:tr>
              <a:tr h="51665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Object Detection Accuracy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Moderate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High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4202962"/>
                  </a:ext>
                </a:extLst>
              </a:tr>
              <a:tr h="51665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Computational Cost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Low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High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18636479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D3DB092E-D201-5369-EEE5-3A4ECB5E805A}"/>
              </a:ext>
            </a:extLst>
          </p:cNvPr>
          <p:cNvSpPr txBox="1"/>
          <p:nvPr/>
        </p:nvSpPr>
        <p:spPr>
          <a:xfrm>
            <a:off x="947412" y="370110"/>
            <a:ext cx="5336930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400" b="1">
                <a:solidFill>
                  <a:srgbClr val="1F1D1D"/>
                </a:solidFill>
                <a:latin typeface="Tahoma"/>
                <a:ea typeface="Tahoma"/>
                <a:cs typeface="Tahoma"/>
              </a:rPr>
              <a:t>C</a:t>
            </a:r>
            <a:r>
              <a:rPr lang="en-US" sz="2400" b="1">
                <a:solidFill>
                  <a:srgbClr val="1F1D1D"/>
                </a:solidFill>
                <a:latin typeface="Times New Roman"/>
                <a:cs typeface="Times New Roman"/>
              </a:rPr>
              <a:t>omparative Analysis: Data Density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90120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624879" y="390207"/>
            <a:ext cx="4843145" cy="550791"/>
          </a:xfrm>
          <a:prstGeom prst="rect">
            <a:avLst/>
          </a:prstGeom>
        </p:spPr>
        <p:txBody>
          <a:bodyPr vert="horz" wrap="square" lIns="0" tIns="187324" rIns="0" bIns="0" rtlCol="0" anchor="t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b="1" spc="45" dirty="0"/>
              <a:t>Strategic</a:t>
            </a:r>
            <a:r>
              <a:rPr b="1" spc="-85" dirty="0"/>
              <a:t> </a:t>
            </a:r>
            <a:r>
              <a:rPr b="1" dirty="0"/>
              <a:t>Trade-</a:t>
            </a:r>
            <a:r>
              <a:rPr b="1" spc="70" dirty="0"/>
              <a:t>offs</a:t>
            </a:r>
            <a:r>
              <a:rPr b="1" spc="-85" dirty="0"/>
              <a:t> </a:t>
            </a:r>
            <a:r>
              <a:rPr b="1" spc="-20" dirty="0"/>
              <a:t>in</a:t>
            </a:r>
            <a:r>
              <a:rPr b="1" spc="-85" dirty="0"/>
              <a:t> </a:t>
            </a:r>
            <a:r>
              <a:rPr b="1" spc="50" dirty="0"/>
              <a:t>Practice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658078" y="1962857"/>
            <a:ext cx="358775" cy="416559"/>
            <a:chOff x="658078" y="1962857"/>
            <a:chExt cx="358775" cy="416559"/>
          </a:xfrm>
        </p:grpSpPr>
        <p:sp>
          <p:nvSpPr>
            <p:cNvPr id="5" name="object 5"/>
            <p:cNvSpPr/>
            <p:nvPr/>
          </p:nvSpPr>
          <p:spPr>
            <a:xfrm>
              <a:off x="725089" y="2133631"/>
              <a:ext cx="283210" cy="234950"/>
            </a:xfrm>
            <a:custGeom>
              <a:avLst/>
              <a:gdLst/>
              <a:ahLst/>
              <a:cxnLst/>
              <a:rect l="l" t="t" r="r" b="b"/>
              <a:pathLst>
                <a:path w="283209" h="234950">
                  <a:moveTo>
                    <a:pt x="281286" y="97624"/>
                  </a:moveTo>
                  <a:lnTo>
                    <a:pt x="246671" y="119022"/>
                  </a:lnTo>
                  <a:lnTo>
                    <a:pt x="200588" y="132935"/>
                  </a:lnTo>
                  <a:lnTo>
                    <a:pt x="172154" y="137309"/>
                  </a:lnTo>
                  <a:lnTo>
                    <a:pt x="163237" y="138431"/>
                  </a:lnTo>
                </a:path>
                <a:path w="283209" h="234950">
                  <a:moveTo>
                    <a:pt x="281753" y="0"/>
                  </a:moveTo>
                  <a:lnTo>
                    <a:pt x="249212" y="21791"/>
                  </a:lnTo>
                  <a:lnTo>
                    <a:pt x="202629" y="36053"/>
                  </a:lnTo>
                  <a:lnTo>
                    <a:pt x="153850" y="42856"/>
                  </a:lnTo>
                  <a:lnTo>
                    <a:pt x="139268" y="44094"/>
                  </a:lnTo>
                  <a:lnTo>
                    <a:pt x="129439" y="44487"/>
                  </a:lnTo>
                </a:path>
                <a:path w="283209" h="234950">
                  <a:moveTo>
                    <a:pt x="92159" y="44412"/>
                  </a:moveTo>
                  <a:lnTo>
                    <a:pt x="72339" y="42798"/>
                  </a:lnTo>
                  <a:lnTo>
                    <a:pt x="53888" y="40839"/>
                  </a:lnTo>
                  <a:lnTo>
                    <a:pt x="36496" y="38498"/>
                  </a:lnTo>
                  <a:lnTo>
                    <a:pt x="19851" y="35736"/>
                  </a:lnTo>
                  <a:lnTo>
                    <a:pt x="0" y="30627"/>
                  </a:lnTo>
                </a:path>
                <a:path w="283209" h="234950">
                  <a:moveTo>
                    <a:pt x="282764" y="169217"/>
                  </a:moveTo>
                  <a:lnTo>
                    <a:pt x="261831" y="205383"/>
                  </a:lnTo>
                  <a:lnTo>
                    <a:pt x="226123" y="221201"/>
                  </a:lnTo>
                  <a:lnTo>
                    <a:pt x="187780" y="230285"/>
                  </a:lnTo>
                  <a:lnTo>
                    <a:pt x="166126" y="233598"/>
                  </a:lnTo>
                  <a:lnTo>
                    <a:pt x="152959" y="234842"/>
                  </a:lnTo>
                </a:path>
              </a:pathLst>
            </a:custGeom>
            <a:ln w="17654">
              <a:solidFill>
                <a:srgbClr val="EB464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58207" y="2269168"/>
              <a:ext cx="123436" cy="105476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666905" y="1971685"/>
              <a:ext cx="340995" cy="398780"/>
            </a:xfrm>
            <a:custGeom>
              <a:avLst/>
              <a:gdLst/>
              <a:ahLst/>
              <a:cxnLst/>
              <a:rect l="l" t="t" r="r" b="b"/>
              <a:pathLst>
                <a:path w="340994" h="398780">
                  <a:moveTo>
                    <a:pt x="149" y="84249"/>
                  </a:moveTo>
                  <a:lnTo>
                    <a:pt x="244" y="73271"/>
                  </a:lnTo>
                  <a:lnTo>
                    <a:pt x="262" y="63419"/>
                  </a:lnTo>
                  <a:lnTo>
                    <a:pt x="367" y="55287"/>
                  </a:lnTo>
                  <a:lnTo>
                    <a:pt x="24769" y="24578"/>
                  </a:lnTo>
                  <a:lnTo>
                    <a:pt x="69208" y="9456"/>
                  </a:lnTo>
                  <a:lnTo>
                    <a:pt x="111170" y="2926"/>
                  </a:lnTo>
                  <a:lnTo>
                    <a:pt x="159423" y="94"/>
                  </a:lnTo>
                  <a:lnTo>
                    <a:pt x="175126" y="0"/>
                  </a:lnTo>
                  <a:lnTo>
                    <a:pt x="190513" y="252"/>
                  </a:lnTo>
                  <a:lnTo>
                    <a:pt x="233279" y="3246"/>
                  </a:lnTo>
                  <a:lnTo>
                    <a:pt x="274610" y="10265"/>
                  </a:lnTo>
                  <a:lnTo>
                    <a:pt x="315644" y="24351"/>
                  </a:lnTo>
                  <a:lnTo>
                    <a:pt x="340517" y="55405"/>
                  </a:lnTo>
                  <a:lnTo>
                    <a:pt x="340844" y="76909"/>
                  </a:lnTo>
                  <a:lnTo>
                    <a:pt x="340904" y="93444"/>
                  </a:lnTo>
                </a:path>
                <a:path w="340994" h="398780">
                  <a:moveTo>
                    <a:pt x="340908" y="258545"/>
                  </a:moveTo>
                  <a:lnTo>
                    <a:pt x="340947" y="331164"/>
                  </a:lnTo>
                </a:path>
                <a:path w="340994" h="398780">
                  <a:moveTo>
                    <a:pt x="340895" y="161190"/>
                  </a:moveTo>
                  <a:lnTo>
                    <a:pt x="339470" y="259571"/>
                  </a:lnTo>
                </a:path>
                <a:path w="340994" h="398780">
                  <a:moveTo>
                    <a:pt x="340888" y="67834"/>
                  </a:moveTo>
                  <a:lnTo>
                    <a:pt x="324363" y="79711"/>
                  </a:lnTo>
                  <a:lnTo>
                    <a:pt x="306740" y="89164"/>
                  </a:lnTo>
                  <a:lnTo>
                    <a:pt x="288017" y="96194"/>
                  </a:lnTo>
                  <a:lnTo>
                    <a:pt x="268196" y="100801"/>
                  </a:lnTo>
                </a:path>
                <a:path w="340994" h="398780">
                  <a:moveTo>
                    <a:pt x="221420" y="300378"/>
                  </a:moveTo>
                  <a:lnTo>
                    <a:pt x="185222" y="302458"/>
                  </a:lnTo>
                  <a:lnTo>
                    <a:pt x="149021" y="302297"/>
                  </a:lnTo>
                  <a:lnTo>
                    <a:pt x="112818" y="299485"/>
                  </a:lnTo>
                  <a:lnTo>
                    <a:pt x="76616" y="293613"/>
                  </a:lnTo>
                </a:path>
                <a:path w="340994" h="398780">
                  <a:moveTo>
                    <a:pt x="76684" y="293163"/>
                  </a:moveTo>
                  <a:lnTo>
                    <a:pt x="55570" y="288497"/>
                  </a:lnTo>
                  <a:lnTo>
                    <a:pt x="35751" y="281030"/>
                  </a:lnTo>
                  <a:lnTo>
                    <a:pt x="17228" y="270763"/>
                  </a:lnTo>
                  <a:lnTo>
                    <a:pt x="0" y="257695"/>
                  </a:lnTo>
                </a:path>
                <a:path w="340994" h="398780">
                  <a:moveTo>
                    <a:pt x="211142" y="396788"/>
                  </a:moveTo>
                  <a:lnTo>
                    <a:pt x="184837" y="398173"/>
                  </a:lnTo>
                  <a:lnTo>
                    <a:pt x="158545" y="398283"/>
                  </a:lnTo>
                  <a:lnTo>
                    <a:pt x="132244" y="396982"/>
                  </a:lnTo>
                  <a:lnTo>
                    <a:pt x="105911" y="394132"/>
                  </a:lnTo>
                </a:path>
                <a:path w="340994" h="398780">
                  <a:moveTo>
                    <a:pt x="129" y="306310"/>
                  </a:moveTo>
                  <a:lnTo>
                    <a:pt x="149" y="84249"/>
                  </a:lnTo>
                </a:path>
                <a:path w="340994" h="398780">
                  <a:moveTo>
                    <a:pt x="187622" y="206434"/>
                  </a:moveTo>
                  <a:lnTo>
                    <a:pt x="150343" y="206359"/>
                  </a:lnTo>
                </a:path>
                <a:path w="340994" h="398780">
                  <a:moveTo>
                    <a:pt x="340904" y="93444"/>
                  </a:moveTo>
                  <a:lnTo>
                    <a:pt x="339937" y="161946"/>
                  </a:lnTo>
                </a:path>
                <a:path w="340994" h="398780">
                  <a:moveTo>
                    <a:pt x="58231" y="192383"/>
                  </a:moveTo>
                  <a:lnTo>
                    <a:pt x="42277" y="187340"/>
                  </a:lnTo>
                  <a:lnTo>
                    <a:pt x="27302" y="180474"/>
                  </a:lnTo>
                  <a:lnTo>
                    <a:pt x="13306" y="171784"/>
                  </a:lnTo>
                  <a:lnTo>
                    <a:pt x="289" y="161271"/>
                  </a:lnTo>
                </a:path>
                <a:path w="340994" h="398780">
                  <a:moveTo>
                    <a:pt x="268246" y="101099"/>
                  </a:moveTo>
                  <a:lnTo>
                    <a:pt x="220519" y="108669"/>
                  </a:lnTo>
                  <a:lnTo>
                    <a:pt x="172790" y="111503"/>
                  </a:lnTo>
                  <a:lnTo>
                    <a:pt x="125063" y="109459"/>
                  </a:lnTo>
                  <a:lnTo>
                    <a:pt x="77340" y="102392"/>
                  </a:lnTo>
                </a:path>
                <a:path w="340994" h="398780">
                  <a:moveTo>
                    <a:pt x="77393" y="102061"/>
                  </a:moveTo>
                  <a:lnTo>
                    <a:pt x="56576" y="97483"/>
                  </a:lnTo>
                  <a:lnTo>
                    <a:pt x="36772" y="90510"/>
                  </a:lnTo>
                  <a:lnTo>
                    <a:pt x="17982" y="81144"/>
                  </a:lnTo>
                  <a:lnTo>
                    <a:pt x="206" y="69383"/>
                  </a:lnTo>
                </a:path>
              </a:pathLst>
            </a:custGeom>
            <a:ln w="17654">
              <a:solidFill>
                <a:srgbClr val="EB464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624879" y="2552573"/>
            <a:ext cx="4682490" cy="2004459"/>
          </a:xfrm>
          <a:prstGeom prst="rect">
            <a:avLst/>
          </a:prstGeom>
        </p:spPr>
        <p:txBody>
          <a:bodyPr vert="horz" wrap="square" lIns="0" tIns="15875" rIns="0" bIns="0" rtlCol="0" anchor="t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000" dirty="0">
                <a:solidFill>
                  <a:srgbClr val="3B3434"/>
                </a:solidFill>
                <a:latin typeface="Times New Roman"/>
                <a:cs typeface="Times New Roman"/>
              </a:rPr>
              <a:t>Tiered</a:t>
            </a:r>
            <a:r>
              <a:rPr sz="2000" spc="25" dirty="0">
                <a:solidFill>
                  <a:srgbClr val="3B3434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3B3434"/>
                </a:solidFill>
                <a:latin typeface="Times New Roman"/>
                <a:cs typeface="Times New Roman"/>
              </a:rPr>
              <a:t>Storage</a:t>
            </a:r>
            <a:endParaRPr sz="2000">
              <a:latin typeface="Times New Roman"/>
              <a:cs typeface="Times New Roman"/>
            </a:endParaRPr>
          </a:p>
          <a:p>
            <a:pPr marL="12700" marR="5080">
              <a:lnSpc>
                <a:spcPct val="135000"/>
              </a:lnSpc>
              <a:spcBef>
                <a:spcPts val="484"/>
              </a:spcBef>
            </a:pPr>
            <a:r>
              <a:rPr sz="2000" dirty="0">
                <a:solidFill>
                  <a:srgbClr val="3B3434"/>
                </a:solidFill>
                <a:latin typeface="Times New Roman"/>
                <a:cs typeface="Times New Roman"/>
              </a:rPr>
              <a:t>Hot</a:t>
            </a:r>
            <a:r>
              <a:rPr sz="2000" spc="-35" dirty="0">
                <a:solidFill>
                  <a:srgbClr val="3B3434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3B3434"/>
                </a:solidFill>
                <a:latin typeface="Times New Roman"/>
                <a:cs typeface="Times New Roman"/>
              </a:rPr>
              <a:t>storage</a:t>
            </a:r>
            <a:r>
              <a:rPr sz="2000" spc="-20" dirty="0">
                <a:solidFill>
                  <a:srgbClr val="3B3434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3B3434"/>
                </a:solidFill>
                <a:latin typeface="Times New Roman"/>
                <a:cs typeface="Times New Roman"/>
              </a:rPr>
              <a:t>for</a:t>
            </a:r>
            <a:r>
              <a:rPr sz="2000" spc="-20" dirty="0">
                <a:solidFill>
                  <a:srgbClr val="3B3434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3B3434"/>
                </a:solidFill>
                <a:latin typeface="Times New Roman"/>
                <a:cs typeface="Times New Roman"/>
              </a:rPr>
              <a:t>raw</a:t>
            </a:r>
            <a:r>
              <a:rPr sz="2000" spc="-20" dirty="0">
                <a:solidFill>
                  <a:srgbClr val="3B3434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3B3434"/>
                </a:solidFill>
                <a:latin typeface="Times New Roman"/>
                <a:cs typeface="Times New Roman"/>
              </a:rPr>
              <a:t>or</a:t>
            </a:r>
            <a:r>
              <a:rPr sz="2000" spc="-20" dirty="0">
                <a:solidFill>
                  <a:srgbClr val="3B3434"/>
                </a:solidFill>
                <a:latin typeface="Times New Roman"/>
                <a:cs typeface="Times New Roman"/>
              </a:rPr>
              <a:t> </a:t>
            </a:r>
            <a:r>
              <a:rPr sz="2000" spc="-55" dirty="0">
                <a:solidFill>
                  <a:srgbClr val="3B3434"/>
                </a:solidFill>
                <a:latin typeface="Times New Roman"/>
                <a:cs typeface="Times New Roman"/>
              </a:rPr>
              <a:t>high-</a:t>
            </a:r>
            <a:r>
              <a:rPr sz="2000" dirty="0">
                <a:solidFill>
                  <a:srgbClr val="3B3434"/>
                </a:solidFill>
                <a:latin typeface="Times New Roman"/>
                <a:cs typeface="Times New Roman"/>
              </a:rPr>
              <a:t>fidelity</a:t>
            </a:r>
            <a:r>
              <a:rPr sz="2000" spc="-25" dirty="0">
                <a:solidFill>
                  <a:srgbClr val="3B3434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3B3434"/>
                </a:solidFill>
                <a:latin typeface="Times New Roman"/>
                <a:cs typeface="Times New Roman"/>
              </a:rPr>
              <a:t>files</a:t>
            </a:r>
            <a:r>
              <a:rPr sz="2000" spc="-20" dirty="0">
                <a:solidFill>
                  <a:srgbClr val="3B3434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3B3434"/>
                </a:solidFill>
                <a:latin typeface="Times New Roman"/>
                <a:cs typeface="Times New Roman"/>
              </a:rPr>
              <a:t>used</a:t>
            </a:r>
            <a:r>
              <a:rPr sz="2000" spc="-20" dirty="0">
                <a:solidFill>
                  <a:srgbClr val="3B3434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3B3434"/>
                </a:solidFill>
                <a:latin typeface="Times New Roman"/>
                <a:cs typeface="Times New Roman"/>
              </a:rPr>
              <a:t>in</a:t>
            </a:r>
            <a:r>
              <a:rPr sz="2000" spc="-20" dirty="0">
                <a:solidFill>
                  <a:srgbClr val="3B3434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3B3434"/>
                </a:solidFill>
                <a:latin typeface="Times New Roman"/>
                <a:cs typeface="Times New Roman"/>
              </a:rPr>
              <a:t>immediate</a:t>
            </a:r>
            <a:r>
              <a:rPr sz="2000" spc="-20" dirty="0">
                <a:solidFill>
                  <a:srgbClr val="3B3434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3B3434"/>
                </a:solidFill>
                <a:latin typeface="Times New Roman"/>
                <a:cs typeface="Times New Roman"/>
              </a:rPr>
              <a:t>analysis; </a:t>
            </a:r>
            <a:r>
              <a:rPr sz="2000" dirty="0">
                <a:solidFill>
                  <a:srgbClr val="3B3434"/>
                </a:solidFill>
                <a:latin typeface="Times New Roman"/>
                <a:cs typeface="Times New Roman"/>
              </a:rPr>
              <a:t>warm/cold</a:t>
            </a:r>
            <a:r>
              <a:rPr sz="2000" spc="-20" dirty="0">
                <a:solidFill>
                  <a:srgbClr val="3B3434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3B3434"/>
                </a:solidFill>
                <a:latin typeface="Times New Roman"/>
                <a:cs typeface="Times New Roman"/>
              </a:rPr>
              <a:t>archives</a:t>
            </a:r>
            <a:r>
              <a:rPr sz="2000" spc="-20" dirty="0">
                <a:solidFill>
                  <a:srgbClr val="3B3434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3B3434"/>
                </a:solidFill>
                <a:latin typeface="Times New Roman"/>
                <a:cs typeface="Times New Roman"/>
              </a:rPr>
              <a:t>for</a:t>
            </a:r>
            <a:r>
              <a:rPr sz="2000" spc="-20" dirty="0">
                <a:solidFill>
                  <a:srgbClr val="3B3434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3B3434"/>
                </a:solidFill>
                <a:latin typeface="Times New Roman"/>
                <a:cs typeface="Times New Roman"/>
              </a:rPr>
              <a:t>compressed</a:t>
            </a:r>
            <a:r>
              <a:rPr sz="2000" spc="-20" dirty="0">
                <a:solidFill>
                  <a:srgbClr val="3B3434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3B3434"/>
                </a:solidFill>
                <a:latin typeface="Times New Roman"/>
                <a:cs typeface="Times New Roman"/>
              </a:rPr>
              <a:t>or</a:t>
            </a:r>
            <a:r>
              <a:rPr sz="2000" spc="-20" dirty="0">
                <a:solidFill>
                  <a:srgbClr val="3B3434"/>
                </a:solidFill>
                <a:latin typeface="Times New Roman"/>
                <a:cs typeface="Times New Roman"/>
              </a:rPr>
              <a:t> </a:t>
            </a:r>
            <a:r>
              <a:rPr sz="2000" spc="-10" dirty="0" err="1">
                <a:solidFill>
                  <a:srgbClr val="3B3434"/>
                </a:solidFill>
                <a:latin typeface="Times New Roman"/>
                <a:cs typeface="Times New Roman"/>
              </a:rPr>
              <a:t>downsampled</a:t>
            </a:r>
            <a:r>
              <a:rPr sz="2000" spc="-20" dirty="0">
                <a:solidFill>
                  <a:srgbClr val="3B3434"/>
                </a:solidFill>
                <a:latin typeface="Times New Roman"/>
                <a:cs typeface="Times New Roman"/>
              </a:rPr>
              <a:t> </a:t>
            </a:r>
            <a:r>
              <a:rPr sz="2000" spc="-50" dirty="0">
                <a:solidFill>
                  <a:srgbClr val="3B3434"/>
                </a:solidFill>
                <a:latin typeface="Times New Roman"/>
                <a:cs typeface="Times New Roman"/>
              </a:rPr>
              <a:t>long-</a:t>
            </a:r>
            <a:r>
              <a:rPr sz="2000" spc="-20" dirty="0">
                <a:solidFill>
                  <a:srgbClr val="3B3434"/>
                </a:solidFill>
                <a:latin typeface="Times New Roman"/>
                <a:cs typeface="Times New Roman"/>
              </a:rPr>
              <a:t>term </a:t>
            </a:r>
            <a:r>
              <a:rPr sz="2000" spc="-10" dirty="0">
                <a:solidFill>
                  <a:srgbClr val="3B3434"/>
                </a:solidFill>
                <a:latin typeface="Times New Roman"/>
                <a:cs typeface="Times New Roman"/>
              </a:rPr>
              <a:t>retention.</a:t>
            </a:r>
            <a:endParaRPr sz="2000">
              <a:latin typeface="Times New Roman"/>
              <a:cs typeface="Times New Roman"/>
            </a:endParaRPr>
          </a:p>
        </p:txBody>
      </p:sp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801073" y="1968305"/>
            <a:ext cx="416473" cy="405220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5801864" y="2552573"/>
            <a:ext cx="4683760" cy="2006127"/>
          </a:xfrm>
          <a:prstGeom prst="rect">
            <a:avLst/>
          </a:prstGeom>
        </p:spPr>
        <p:txBody>
          <a:bodyPr vert="horz" wrap="square" lIns="0" tIns="15875" rIns="0" bIns="0" rtlCol="0" anchor="t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000" spc="10" dirty="0">
                <a:solidFill>
                  <a:srgbClr val="3B3434"/>
                </a:solidFill>
                <a:latin typeface="Times New Roman"/>
                <a:cs typeface="Times New Roman"/>
              </a:rPr>
              <a:t>ROI</a:t>
            </a:r>
            <a:r>
              <a:rPr sz="2000" spc="-15" dirty="0">
                <a:solidFill>
                  <a:srgbClr val="3B3434"/>
                </a:solidFill>
                <a:latin typeface="Times New Roman"/>
                <a:cs typeface="Times New Roman"/>
              </a:rPr>
              <a:t> </a:t>
            </a:r>
            <a:r>
              <a:rPr sz="2000" spc="10" dirty="0">
                <a:solidFill>
                  <a:srgbClr val="3B3434"/>
                </a:solidFill>
                <a:latin typeface="Times New Roman"/>
                <a:cs typeface="Times New Roman"/>
              </a:rPr>
              <a:t>&amp;</a:t>
            </a:r>
            <a:r>
              <a:rPr sz="2000" spc="-15" dirty="0">
                <a:solidFill>
                  <a:srgbClr val="3B3434"/>
                </a:solidFill>
                <a:latin typeface="Times New Roman"/>
                <a:cs typeface="Times New Roman"/>
              </a:rPr>
              <a:t> </a:t>
            </a:r>
            <a:r>
              <a:rPr sz="2000" spc="10" dirty="0">
                <a:solidFill>
                  <a:srgbClr val="3B3434"/>
                </a:solidFill>
                <a:latin typeface="Times New Roman"/>
                <a:cs typeface="Times New Roman"/>
              </a:rPr>
              <a:t>Selective</a:t>
            </a:r>
            <a:r>
              <a:rPr sz="2000" spc="-15" dirty="0">
                <a:solidFill>
                  <a:srgbClr val="3B3434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3B3434"/>
                </a:solidFill>
                <a:latin typeface="Times New Roman"/>
                <a:cs typeface="Times New Roman"/>
              </a:rPr>
              <a:t>Capture</a:t>
            </a:r>
            <a:endParaRPr sz="2000">
              <a:latin typeface="Times New Roman"/>
              <a:cs typeface="Times New Roman"/>
            </a:endParaRPr>
          </a:p>
          <a:p>
            <a:pPr marL="12700" marR="5080">
              <a:lnSpc>
                <a:spcPct val="135000"/>
              </a:lnSpc>
              <a:spcBef>
                <a:spcPts val="484"/>
              </a:spcBef>
            </a:pPr>
            <a:r>
              <a:rPr sz="2000" dirty="0">
                <a:solidFill>
                  <a:srgbClr val="3B3434"/>
                </a:solidFill>
                <a:latin typeface="Times New Roman"/>
                <a:cs typeface="Times New Roman"/>
              </a:rPr>
              <a:t>Capture</a:t>
            </a:r>
            <a:r>
              <a:rPr sz="2000" spc="-35" dirty="0">
                <a:solidFill>
                  <a:srgbClr val="3B3434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3B3434"/>
                </a:solidFill>
                <a:latin typeface="Times New Roman"/>
                <a:cs typeface="Times New Roman"/>
              </a:rPr>
              <a:t>full</a:t>
            </a:r>
            <a:r>
              <a:rPr sz="2000" spc="-35" dirty="0">
                <a:solidFill>
                  <a:srgbClr val="3B3434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3B3434"/>
                </a:solidFill>
                <a:latin typeface="Times New Roman"/>
                <a:cs typeface="Times New Roman"/>
              </a:rPr>
              <a:t>resolution</a:t>
            </a:r>
            <a:r>
              <a:rPr sz="2000" spc="-35" dirty="0">
                <a:solidFill>
                  <a:srgbClr val="3B3434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3B3434"/>
                </a:solidFill>
                <a:latin typeface="Times New Roman"/>
                <a:cs typeface="Times New Roman"/>
              </a:rPr>
              <a:t>only</a:t>
            </a:r>
            <a:r>
              <a:rPr sz="2000" spc="-30" dirty="0">
                <a:solidFill>
                  <a:srgbClr val="3B3434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3B3434"/>
                </a:solidFill>
                <a:latin typeface="Times New Roman"/>
                <a:cs typeface="Times New Roman"/>
              </a:rPr>
              <a:t>for</a:t>
            </a:r>
            <a:r>
              <a:rPr sz="2000" spc="-35" dirty="0">
                <a:solidFill>
                  <a:srgbClr val="3B3434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3B3434"/>
                </a:solidFill>
                <a:latin typeface="Times New Roman"/>
                <a:cs typeface="Times New Roman"/>
              </a:rPr>
              <a:t>regions</a:t>
            </a:r>
            <a:r>
              <a:rPr sz="2000" spc="-35" dirty="0">
                <a:solidFill>
                  <a:srgbClr val="3B3434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3B3434"/>
                </a:solidFill>
                <a:latin typeface="Times New Roman"/>
                <a:cs typeface="Times New Roman"/>
              </a:rPr>
              <a:t>of</a:t>
            </a:r>
            <a:r>
              <a:rPr sz="2000" spc="-30" dirty="0">
                <a:solidFill>
                  <a:srgbClr val="3B3434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3B3434"/>
                </a:solidFill>
                <a:latin typeface="Times New Roman"/>
                <a:cs typeface="Times New Roman"/>
              </a:rPr>
              <a:t>interest</a:t>
            </a:r>
            <a:r>
              <a:rPr sz="2000" spc="-35" dirty="0">
                <a:solidFill>
                  <a:srgbClr val="3B3434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3B3434"/>
                </a:solidFill>
                <a:latin typeface="Times New Roman"/>
                <a:cs typeface="Times New Roman"/>
              </a:rPr>
              <a:t>(ROI)</a:t>
            </a:r>
            <a:r>
              <a:rPr sz="2000" spc="-35" dirty="0">
                <a:solidFill>
                  <a:srgbClr val="3B3434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3B3434"/>
                </a:solidFill>
                <a:latin typeface="Times New Roman"/>
                <a:cs typeface="Times New Roman"/>
              </a:rPr>
              <a:t>using</a:t>
            </a:r>
            <a:r>
              <a:rPr sz="2000" spc="-30" dirty="0">
                <a:solidFill>
                  <a:srgbClr val="3B3434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3B3434"/>
                </a:solidFill>
                <a:latin typeface="Times New Roman"/>
                <a:cs typeface="Times New Roman"/>
              </a:rPr>
              <a:t>smart </a:t>
            </a:r>
            <a:r>
              <a:rPr sz="2000" dirty="0">
                <a:solidFill>
                  <a:srgbClr val="3B3434"/>
                </a:solidFill>
                <a:latin typeface="Times New Roman"/>
                <a:cs typeface="Times New Roman"/>
              </a:rPr>
              <a:t>cameras</a:t>
            </a:r>
            <a:r>
              <a:rPr sz="2000" spc="-30" dirty="0">
                <a:solidFill>
                  <a:srgbClr val="3B3434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3B3434"/>
                </a:solidFill>
                <a:latin typeface="Times New Roman"/>
                <a:cs typeface="Times New Roman"/>
              </a:rPr>
              <a:t>or</a:t>
            </a:r>
            <a:r>
              <a:rPr sz="2000" spc="-25" dirty="0">
                <a:solidFill>
                  <a:srgbClr val="3B3434"/>
                </a:solidFill>
                <a:latin typeface="Times New Roman"/>
                <a:cs typeface="Times New Roman"/>
              </a:rPr>
              <a:t> </a:t>
            </a:r>
            <a:r>
              <a:rPr sz="2000" spc="-50" dirty="0">
                <a:solidFill>
                  <a:srgbClr val="3B3434"/>
                </a:solidFill>
                <a:latin typeface="Times New Roman"/>
                <a:cs typeface="Times New Roman"/>
              </a:rPr>
              <a:t>post-</a:t>
            </a:r>
            <a:r>
              <a:rPr sz="2000" dirty="0">
                <a:solidFill>
                  <a:srgbClr val="3B3434"/>
                </a:solidFill>
                <a:latin typeface="Times New Roman"/>
                <a:cs typeface="Times New Roman"/>
              </a:rPr>
              <a:t>capture</a:t>
            </a:r>
            <a:r>
              <a:rPr sz="2000" spc="-25" dirty="0">
                <a:solidFill>
                  <a:srgbClr val="3B3434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3B3434"/>
                </a:solidFill>
                <a:latin typeface="Times New Roman"/>
                <a:cs typeface="Times New Roman"/>
              </a:rPr>
              <a:t>cropping</a:t>
            </a:r>
            <a:r>
              <a:rPr sz="2000" spc="-30" dirty="0">
                <a:solidFill>
                  <a:srgbClr val="3B3434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3B3434"/>
                </a:solidFill>
                <a:latin typeface="Times New Roman"/>
                <a:cs typeface="Times New Roman"/>
              </a:rPr>
              <a:t>to</a:t>
            </a:r>
            <a:r>
              <a:rPr sz="2000" spc="-25" dirty="0">
                <a:solidFill>
                  <a:srgbClr val="3B3434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3B3434"/>
                </a:solidFill>
                <a:latin typeface="Times New Roman"/>
                <a:cs typeface="Times New Roman"/>
              </a:rPr>
              <a:t>reduce</a:t>
            </a:r>
            <a:r>
              <a:rPr sz="2000" spc="-25" dirty="0">
                <a:solidFill>
                  <a:srgbClr val="3B3434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3B3434"/>
                </a:solidFill>
                <a:latin typeface="Times New Roman"/>
                <a:cs typeface="Times New Roman"/>
              </a:rPr>
              <a:t>global</a:t>
            </a:r>
            <a:r>
              <a:rPr sz="2000" spc="-25" dirty="0">
                <a:solidFill>
                  <a:srgbClr val="3B3434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3B3434"/>
                </a:solidFill>
                <a:latin typeface="Times New Roman"/>
                <a:cs typeface="Times New Roman"/>
              </a:rPr>
              <a:t>storage</a:t>
            </a:r>
            <a:r>
              <a:rPr sz="2000" spc="-30" dirty="0">
                <a:solidFill>
                  <a:srgbClr val="3B3434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3B3434"/>
                </a:solidFill>
                <a:latin typeface="Times New Roman"/>
                <a:cs typeface="Times New Roman"/>
              </a:rPr>
              <a:t>needs.</a:t>
            </a:r>
            <a:endParaRPr sz="2000">
              <a:latin typeface="Times New Roman"/>
              <a:cs typeface="Times New Roman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664516" y="4563589"/>
            <a:ext cx="416559" cy="288925"/>
            <a:chOff x="629347" y="4036237"/>
            <a:chExt cx="416559" cy="288925"/>
          </a:xfrm>
        </p:grpSpPr>
        <p:sp>
          <p:nvSpPr>
            <p:cNvPr id="12" name="object 12"/>
            <p:cNvSpPr/>
            <p:nvPr/>
          </p:nvSpPr>
          <p:spPr>
            <a:xfrm>
              <a:off x="907287" y="4122013"/>
              <a:ext cx="129539" cy="132080"/>
            </a:xfrm>
            <a:custGeom>
              <a:avLst/>
              <a:gdLst/>
              <a:ahLst/>
              <a:cxnLst/>
              <a:rect l="l" t="t" r="r" b="b"/>
              <a:pathLst>
                <a:path w="129540" h="132079">
                  <a:moveTo>
                    <a:pt x="0" y="0"/>
                  </a:moveTo>
                  <a:lnTo>
                    <a:pt x="46627" y="347"/>
                  </a:lnTo>
                  <a:lnTo>
                    <a:pt x="89422" y="14859"/>
                  </a:lnTo>
                  <a:lnTo>
                    <a:pt x="125104" y="34911"/>
                  </a:lnTo>
                  <a:lnTo>
                    <a:pt x="129081" y="80960"/>
                  </a:lnTo>
                  <a:lnTo>
                    <a:pt x="129274" y="131804"/>
                  </a:lnTo>
                </a:path>
              </a:pathLst>
            </a:custGeom>
            <a:ln w="17653">
              <a:solidFill>
                <a:srgbClr val="EB464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41094" y="4144709"/>
              <a:ext cx="176309" cy="82902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638174" y="4045064"/>
              <a:ext cx="307340" cy="209550"/>
            </a:xfrm>
            <a:custGeom>
              <a:avLst/>
              <a:gdLst/>
              <a:ahLst/>
              <a:cxnLst/>
              <a:rect l="l" t="t" r="r" b="b"/>
              <a:pathLst>
                <a:path w="307340" h="209550">
                  <a:moveTo>
                    <a:pt x="269113" y="76949"/>
                  </a:moveTo>
                  <a:lnTo>
                    <a:pt x="268686" y="83287"/>
                  </a:lnTo>
                  <a:lnTo>
                    <a:pt x="268666" y="94829"/>
                  </a:lnTo>
                  <a:lnTo>
                    <a:pt x="268318" y="100011"/>
                  </a:lnTo>
                  <a:lnTo>
                    <a:pt x="252462" y="116602"/>
                  </a:lnTo>
                  <a:lnTo>
                    <a:pt x="243836" y="116679"/>
                  </a:lnTo>
                </a:path>
                <a:path w="307340" h="209550">
                  <a:moveTo>
                    <a:pt x="306836" y="26320"/>
                  </a:moveTo>
                  <a:lnTo>
                    <a:pt x="296918" y="511"/>
                  </a:lnTo>
                  <a:lnTo>
                    <a:pt x="294647" y="311"/>
                  </a:lnTo>
                </a:path>
                <a:path w="307340" h="209550">
                  <a:moveTo>
                    <a:pt x="249276" y="91"/>
                  </a:moveTo>
                  <a:lnTo>
                    <a:pt x="242054" y="0"/>
                  </a:lnTo>
                  <a:lnTo>
                    <a:pt x="238806" y="326"/>
                  </a:lnTo>
                  <a:lnTo>
                    <a:pt x="229953" y="482"/>
                  </a:lnTo>
                  <a:lnTo>
                    <a:pt x="209476" y="284"/>
                  </a:lnTo>
                </a:path>
                <a:path w="307340" h="209550">
                  <a:moveTo>
                    <a:pt x="250761" y="209025"/>
                  </a:moveTo>
                  <a:lnTo>
                    <a:pt x="0" y="209267"/>
                  </a:lnTo>
                </a:path>
              </a:pathLst>
            </a:custGeom>
            <a:ln w="17653">
              <a:solidFill>
                <a:srgbClr val="EB464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40231" y="4245429"/>
              <a:ext cx="175291" cy="79600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80289" y="4173970"/>
              <a:ext cx="165126" cy="148332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638174" y="4218704"/>
              <a:ext cx="257175" cy="36195"/>
            </a:xfrm>
            <a:custGeom>
              <a:avLst/>
              <a:gdLst/>
              <a:ahLst/>
              <a:cxnLst/>
              <a:rect l="l" t="t" r="r" b="b"/>
              <a:pathLst>
                <a:path w="257175" h="36195">
                  <a:moveTo>
                    <a:pt x="256931" y="1404"/>
                  </a:moveTo>
                  <a:lnTo>
                    <a:pt x="43" y="0"/>
                  </a:lnTo>
                  <a:lnTo>
                    <a:pt x="0" y="35627"/>
                  </a:lnTo>
                </a:path>
              </a:pathLst>
            </a:custGeom>
            <a:ln w="17653">
              <a:solidFill>
                <a:srgbClr val="EB464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" name="object 1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31071" y="4036328"/>
              <a:ext cx="154343" cy="243193"/>
            </a:xfrm>
            <a:prstGeom prst="rect">
              <a:avLst/>
            </a:prstGeom>
          </p:spPr>
        </p:pic>
      </p:grpSp>
      <p:sp>
        <p:nvSpPr>
          <p:cNvPr id="19" name="object 19"/>
          <p:cNvSpPr txBox="1"/>
          <p:nvPr/>
        </p:nvSpPr>
        <p:spPr>
          <a:xfrm>
            <a:off x="624879" y="4975440"/>
            <a:ext cx="4629785" cy="2012089"/>
          </a:xfrm>
          <a:prstGeom prst="rect">
            <a:avLst/>
          </a:prstGeom>
        </p:spPr>
        <p:txBody>
          <a:bodyPr vert="horz" wrap="square" lIns="0" tIns="15875" rIns="0" bIns="0" rtlCol="0" anchor="t">
            <a:spAutoFit/>
          </a:bodyPr>
          <a:lstStyle/>
          <a:p>
            <a:pPr marL="12700">
              <a:spcBef>
                <a:spcPts val="125"/>
              </a:spcBef>
            </a:pPr>
            <a:r>
              <a:rPr lang="en-US" sz="2000" dirty="0">
                <a:solidFill>
                  <a:srgbClr val="3B3434"/>
                </a:solidFill>
                <a:latin typeface="Times New Roman"/>
                <a:cs typeface="Times New Roman"/>
              </a:rPr>
              <a:t>Adaptive</a:t>
            </a:r>
            <a:r>
              <a:rPr lang="en-US" sz="2000" spc="100" dirty="0">
                <a:solidFill>
                  <a:srgbClr val="3B3434"/>
                </a:solidFill>
                <a:latin typeface="Times New Roman"/>
                <a:cs typeface="Times New Roman"/>
              </a:rPr>
              <a:t> </a:t>
            </a:r>
            <a:r>
              <a:rPr lang="en-US" sz="2000" spc="-10" dirty="0">
                <a:solidFill>
                  <a:srgbClr val="3B3434"/>
                </a:solidFill>
                <a:latin typeface="Times New Roman"/>
                <a:cs typeface="Times New Roman"/>
              </a:rPr>
              <a:t>Compression</a:t>
            </a:r>
            <a:endParaRPr lang="en-US" sz="200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 marL="12700" marR="5080">
              <a:lnSpc>
                <a:spcPct val="135000"/>
              </a:lnSpc>
              <a:spcBef>
                <a:spcPts val="484"/>
              </a:spcBef>
            </a:pPr>
            <a:r>
              <a:rPr lang="en-US" sz="2000" dirty="0">
                <a:solidFill>
                  <a:srgbClr val="3B3434"/>
                </a:solidFill>
                <a:latin typeface="Times New Roman"/>
                <a:cs typeface="Times New Roman"/>
              </a:rPr>
              <a:t>Use</a:t>
            </a:r>
            <a:r>
              <a:rPr lang="en-US" sz="2000" spc="-30" dirty="0">
                <a:solidFill>
                  <a:srgbClr val="3B3434"/>
                </a:solidFill>
                <a:latin typeface="Times New Roman"/>
                <a:cs typeface="Times New Roman"/>
              </a:rPr>
              <a:t> </a:t>
            </a:r>
            <a:r>
              <a:rPr lang="en-US" sz="2000" dirty="0">
                <a:solidFill>
                  <a:srgbClr val="3B3434"/>
                </a:solidFill>
                <a:latin typeface="Times New Roman"/>
                <a:cs typeface="Times New Roman"/>
              </a:rPr>
              <a:t>codecs</a:t>
            </a:r>
            <a:r>
              <a:rPr lang="en-US" sz="2000" spc="-25" dirty="0">
                <a:solidFill>
                  <a:srgbClr val="3B3434"/>
                </a:solidFill>
                <a:latin typeface="Times New Roman"/>
                <a:cs typeface="Times New Roman"/>
              </a:rPr>
              <a:t> </a:t>
            </a:r>
            <a:r>
              <a:rPr lang="en-US" sz="2000" dirty="0">
                <a:solidFill>
                  <a:srgbClr val="3B3434"/>
                </a:solidFill>
                <a:latin typeface="Times New Roman"/>
                <a:cs typeface="Times New Roman"/>
              </a:rPr>
              <a:t>that</a:t>
            </a:r>
            <a:r>
              <a:rPr lang="en-US" sz="2000" spc="-30" dirty="0">
                <a:solidFill>
                  <a:srgbClr val="3B3434"/>
                </a:solidFill>
                <a:latin typeface="Times New Roman"/>
                <a:cs typeface="Times New Roman"/>
              </a:rPr>
              <a:t> </a:t>
            </a:r>
            <a:r>
              <a:rPr lang="en-US" sz="2000" dirty="0">
                <a:solidFill>
                  <a:srgbClr val="3B3434"/>
                </a:solidFill>
                <a:latin typeface="Times New Roman"/>
                <a:cs typeface="Times New Roman"/>
              </a:rPr>
              <a:t>allow</a:t>
            </a:r>
            <a:r>
              <a:rPr lang="en-US" sz="2000" spc="-25" dirty="0">
                <a:solidFill>
                  <a:srgbClr val="3B3434"/>
                </a:solidFill>
                <a:latin typeface="Times New Roman"/>
                <a:cs typeface="Times New Roman"/>
              </a:rPr>
              <a:t> </a:t>
            </a:r>
            <a:r>
              <a:rPr lang="en-US" sz="2000" dirty="0">
                <a:solidFill>
                  <a:srgbClr val="3B3434"/>
                </a:solidFill>
                <a:latin typeface="Times New Roman"/>
                <a:cs typeface="Times New Roman"/>
              </a:rPr>
              <a:t>scalable</a:t>
            </a:r>
            <a:r>
              <a:rPr lang="en-US" sz="2000" spc="-30" dirty="0">
                <a:solidFill>
                  <a:srgbClr val="3B3434"/>
                </a:solidFill>
                <a:latin typeface="Times New Roman"/>
                <a:cs typeface="Times New Roman"/>
              </a:rPr>
              <a:t> </a:t>
            </a:r>
            <a:r>
              <a:rPr lang="en-US" sz="2000" spc="-10" dirty="0">
                <a:solidFill>
                  <a:srgbClr val="3B3434"/>
                </a:solidFill>
                <a:latin typeface="Times New Roman"/>
                <a:cs typeface="Times New Roman"/>
              </a:rPr>
              <a:t>quality</a:t>
            </a:r>
            <a:r>
              <a:rPr lang="en-US" sz="2000" spc="-25" dirty="0">
                <a:solidFill>
                  <a:srgbClr val="3B3434"/>
                </a:solidFill>
                <a:latin typeface="Times New Roman"/>
                <a:cs typeface="Times New Roman"/>
              </a:rPr>
              <a:t> </a:t>
            </a:r>
            <a:r>
              <a:rPr lang="en-US" sz="2000" dirty="0">
                <a:solidFill>
                  <a:srgbClr val="3B3434"/>
                </a:solidFill>
                <a:latin typeface="Times New Roman"/>
                <a:cs typeface="Times New Roman"/>
              </a:rPr>
              <a:t>(JPEG2000,</a:t>
            </a:r>
            <a:r>
              <a:rPr lang="en-US" sz="2000" spc="-30" dirty="0">
                <a:solidFill>
                  <a:srgbClr val="3B3434"/>
                </a:solidFill>
                <a:latin typeface="Times New Roman"/>
                <a:cs typeface="Times New Roman"/>
              </a:rPr>
              <a:t> </a:t>
            </a:r>
            <a:r>
              <a:rPr lang="en-US" sz="2000" spc="-20" dirty="0">
                <a:solidFill>
                  <a:srgbClr val="3B3434"/>
                </a:solidFill>
                <a:latin typeface="Times New Roman"/>
                <a:cs typeface="Times New Roman"/>
              </a:rPr>
              <a:t>HEIF,</a:t>
            </a:r>
            <a:r>
              <a:rPr lang="en-US" sz="2000" spc="-25" dirty="0">
                <a:solidFill>
                  <a:srgbClr val="3B3434"/>
                </a:solidFill>
                <a:latin typeface="Times New Roman"/>
                <a:cs typeface="Times New Roman"/>
              </a:rPr>
              <a:t> </a:t>
            </a:r>
            <a:r>
              <a:rPr lang="en-US" sz="2000" dirty="0">
                <a:solidFill>
                  <a:srgbClr val="3B3434"/>
                </a:solidFill>
                <a:latin typeface="Times New Roman"/>
                <a:cs typeface="Times New Roman"/>
              </a:rPr>
              <a:t>AVIF)</a:t>
            </a:r>
            <a:r>
              <a:rPr lang="en-US" sz="2000" spc="-30" dirty="0">
                <a:solidFill>
                  <a:srgbClr val="3B3434"/>
                </a:solidFill>
                <a:latin typeface="Times New Roman"/>
                <a:cs typeface="Times New Roman"/>
              </a:rPr>
              <a:t> </a:t>
            </a:r>
            <a:r>
              <a:rPr lang="en-US" sz="2000" spc="-25" dirty="0">
                <a:solidFill>
                  <a:srgbClr val="3B3434"/>
                </a:solidFill>
                <a:latin typeface="Times New Roman"/>
                <a:cs typeface="Times New Roman"/>
              </a:rPr>
              <a:t>and </a:t>
            </a:r>
            <a:r>
              <a:rPr lang="en-US" sz="2000" dirty="0">
                <a:solidFill>
                  <a:srgbClr val="3B3434"/>
                </a:solidFill>
                <a:latin typeface="Times New Roman"/>
                <a:cs typeface="Times New Roman"/>
              </a:rPr>
              <a:t>adjust</a:t>
            </a:r>
            <a:r>
              <a:rPr lang="en-US" sz="2000" spc="-35" dirty="0">
                <a:solidFill>
                  <a:srgbClr val="3B3434"/>
                </a:solidFill>
                <a:latin typeface="Times New Roman"/>
                <a:cs typeface="Times New Roman"/>
              </a:rPr>
              <a:t> </a:t>
            </a:r>
            <a:r>
              <a:rPr lang="en-US" sz="2000" spc="-10" dirty="0">
                <a:solidFill>
                  <a:srgbClr val="3B3434"/>
                </a:solidFill>
                <a:latin typeface="Times New Roman"/>
                <a:cs typeface="Times New Roman"/>
              </a:rPr>
              <a:t>bitrates</a:t>
            </a:r>
            <a:r>
              <a:rPr lang="en-US" sz="2000" spc="-35" dirty="0">
                <a:solidFill>
                  <a:srgbClr val="3B3434"/>
                </a:solidFill>
                <a:latin typeface="Times New Roman"/>
                <a:cs typeface="Times New Roman"/>
              </a:rPr>
              <a:t> </a:t>
            </a:r>
            <a:r>
              <a:rPr lang="en-US" sz="2000" dirty="0">
                <a:solidFill>
                  <a:srgbClr val="3B3434"/>
                </a:solidFill>
                <a:latin typeface="Times New Roman"/>
                <a:cs typeface="Times New Roman"/>
              </a:rPr>
              <a:t>based</a:t>
            </a:r>
            <a:r>
              <a:rPr lang="en-US" sz="2000" spc="-35" dirty="0">
                <a:solidFill>
                  <a:srgbClr val="3B3434"/>
                </a:solidFill>
                <a:latin typeface="Times New Roman"/>
                <a:cs typeface="Times New Roman"/>
              </a:rPr>
              <a:t> </a:t>
            </a:r>
            <a:r>
              <a:rPr lang="en-US" sz="2000" dirty="0">
                <a:solidFill>
                  <a:srgbClr val="3B3434"/>
                </a:solidFill>
                <a:latin typeface="Times New Roman"/>
                <a:cs typeface="Times New Roman"/>
              </a:rPr>
              <a:t>on</a:t>
            </a:r>
            <a:r>
              <a:rPr lang="en-US" sz="2000" spc="-35" dirty="0">
                <a:solidFill>
                  <a:srgbClr val="3B3434"/>
                </a:solidFill>
                <a:latin typeface="Times New Roman"/>
                <a:cs typeface="Times New Roman"/>
              </a:rPr>
              <a:t> </a:t>
            </a:r>
            <a:r>
              <a:rPr lang="en-US" sz="2000" dirty="0">
                <a:solidFill>
                  <a:srgbClr val="3B3434"/>
                </a:solidFill>
                <a:latin typeface="Times New Roman"/>
                <a:cs typeface="Times New Roman"/>
              </a:rPr>
              <a:t>motion,</a:t>
            </a:r>
            <a:r>
              <a:rPr lang="en-US" sz="2000" spc="-35" dirty="0">
                <a:solidFill>
                  <a:srgbClr val="3B3434"/>
                </a:solidFill>
                <a:latin typeface="Times New Roman"/>
                <a:cs typeface="Times New Roman"/>
              </a:rPr>
              <a:t> </a:t>
            </a:r>
            <a:r>
              <a:rPr lang="en-US" sz="2000" dirty="0">
                <a:solidFill>
                  <a:srgbClr val="3B3434"/>
                </a:solidFill>
                <a:latin typeface="Times New Roman"/>
                <a:cs typeface="Times New Roman"/>
              </a:rPr>
              <a:t>importance,</a:t>
            </a:r>
            <a:r>
              <a:rPr lang="en-US" sz="2000" spc="-35" dirty="0">
                <a:solidFill>
                  <a:srgbClr val="3B3434"/>
                </a:solidFill>
                <a:latin typeface="Times New Roman"/>
                <a:cs typeface="Times New Roman"/>
              </a:rPr>
              <a:t> </a:t>
            </a:r>
            <a:r>
              <a:rPr lang="en-US" sz="2000" dirty="0">
                <a:solidFill>
                  <a:srgbClr val="3B3434"/>
                </a:solidFill>
                <a:latin typeface="Times New Roman"/>
                <a:cs typeface="Times New Roman"/>
              </a:rPr>
              <a:t>and</a:t>
            </a:r>
            <a:r>
              <a:rPr lang="en-US" sz="2000" spc="-35" dirty="0">
                <a:solidFill>
                  <a:srgbClr val="3B3434"/>
                </a:solidFill>
                <a:latin typeface="Times New Roman"/>
                <a:cs typeface="Times New Roman"/>
              </a:rPr>
              <a:t> </a:t>
            </a:r>
            <a:r>
              <a:rPr lang="en-US" sz="2000" dirty="0">
                <a:solidFill>
                  <a:srgbClr val="3B3434"/>
                </a:solidFill>
                <a:latin typeface="Times New Roman"/>
                <a:cs typeface="Times New Roman"/>
              </a:rPr>
              <a:t>scene</a:t>
            </a:r>
            <a:r>
              <a:rPr lang="en-US" sz="2000" spc="-35" dirty="0">
                <a:solidFill>
                  <a:srgbClr val="3B3434"/>
                </a:solidFill>
                <a:latin typeface="Times New Roman"/>
                <a:cs typeface="Times New Roman"/>
              </a:rPr>
              <a:t> </a:t>
            </a:r>
            <a:r>
              <a:rPr lang="en-US" sz="2000" spc="-10" dirty="0">
                <a:solidFill>
                  <a:srgbClr val="3B3434"/>
                </a:solidFill>
                <a:latin typeface="Times New Roman"/>
                <a:cs typeface="Times New Roman"/>
              </a:rPr>
              <a:t>content.</a:t>
            </a:r>
            <a:endParaRPr sz="2000">
              <a:solidFill>
                <a:srgbClr val="000000"/>
              </a:solidFill>
              <a:latin typeface="tim"/>
              <a:cs typeface="Times New Roman"/>
            </a:endParaRPr>
          </a:p>
        </p:txBody>
      </p:sp>
      <p:pic>
        <p:nvPicPr>
          <p:cNvPr id="20" name="object 20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5801440" y="4688913"/>
            <a:ext cx="416057" cy="284315"/>
          </a:xfrm>
          <a:prstGeom prst="rect">
            <a:avLst/>
          </a:prstGeom>
        </p:spPr>
      </p:pic>
      <p:sp>
        <p:nvSpPr>
          <p:cNvPr id="21" name="object 21"/>
          <p:cNvSpPr txBox="1"/>
          <p:nvPr/>
        </p:nvSpPr>
        <p:spPr>
          <a:xfrm>
            <a:off x="5713941" y="5186381"/>
            <a:ext cx="4972685" cy="1590628"/>
          </a:xfrm>
          <a:prstGeom prst="rect">
            <a:avLst/>
          </a:prstGeom>
        </p:spPr>
        <p:txBody>
          <a:bodyPr vert="horz" wrap="square" lIns="0" tIns="15875" rIns="0" bIns="0" rtlCol="0" anchor="t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000" spc="55" dirty="0">
                <a:solidFill>
                  <a:srgbClr val="3B3434"/>
                </a:solidFill>
                <a:latin typeface="Times New Roman"/>
                <a:cs typeface="Times New Roman"/>
              </a:rPr>
              <a:t>Edge</a:t>
            </a:r>
            <a:r>
              <a:rPr sz="2000" spc="-110" dirty="0">
                <a:solidFill>
                  <a:srgbClr val="3B3434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3B3434"/>
                </a:solidFill>
                <a:latin typeface="Times New Roman"/>
                <a:cs typeface="Times New Roman"/>
              </a:rPr>
              <a:t>Processing</a:t>
            </a:r>
            <a:endParaRPr sz="2000">
              <a:latin typeface="Times New Roman"/>
              <a:cs typeface="Times New Roman"/>
            </a:endParaRPr>
          </a:p>
          <a:p>
            <a:pPr marL="12700" marR="5080">
              <a:lnSpc>
                <a:spcPct val="135000"/>
              </a:lnSpc>
              <a:spcBef>
                <a:spcPts val="484"/>
              </a:spcBef>
            </a:pPr>
            <a:r>
              <a:rPr sz="2000" dirty="0">
                <a:solidFill>
                  <a:srgbClr val="3B3434"/>
                </a:solidFill>
                <a:latin typeface="Times New Roman"/>
                <a:cs typeface="Times New Roman"/>
              </a:rPr>
              <a:t>Perform</a:t>
            </a:r>
            <a:r>
              <a:rPr sz="2000" spc="-30" dirty="0">
                <a:solidFill>
                  <a:srgbClr val="3B3434"/>
                </a:solidFill>
                <a:latin typeface="Times New Roman"/>
                <a:cs typeface="Times New Roman"/>
              </a:rPr>
              <a:t> </a:t>
            </a:r>
            <a:r>
              <a:rPr sz="2000" spc="-60" dirty="0">
                <a:solidFill>
                  <a:srgbClr val="3B3434"/>
                </a:solidFill>
                <a:latin typeface="Times New Roman"/>
                <a:cs typeface="Times New Roman"/>
              </a:rPr>
              <a:t>pre-</a:t>
            </a:r>
            <a:r>
              <a:rPr sz="2000" dirty="0">
                <a:solidFill>
                  <a:srgbClr val="3B3434"/>
                </a:solidFill>
                <a:latin typeface="Times New Roman"/>
                <a:cs typeface="Times New Roman"/>
              </a:rPr>
              <a:t>filtering,</a:t>
            </a:r>
            <a:r>
              <a:rPr sz="2000" spc="-25" dirty="0">
                <a:solidFill>
                  <a:srgbClr val="3B3434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3B3434"/>
                </a:solidFill>
                <a:latin typeface="Times New Roman"/>
                <a:cs typeface="Times New Roman"/>
              </a:rPr>
              <a:t>event</a:t>
            </a:r>
            <a:r>
              <a:rPr sz="2000" spc="-30" dirty="0">
                <a:solidFill>
                  <a:srgbClr val="3B3434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3B3434"/>
                </a:solidFill>
                <a:latin typeface="Times New Roman"/>
                <a:cs typeface="Times New Roman"/>
              </a:rPr>
              <a:t>detection,</a:t>
            </a:r>
            <a:r>
              <a:rPr sz="2000" spc="-25" dirty="0">
                <a:solidFill>
                  <a:srgbClr val="3B3434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3B3434"/>
                </a:solidFill>
                <a:latin typeface="Times New Roman"/>
                <a:cs typeface="Times New Roman"/>
              </a:rPr>
              <a:t>and</a:t>
            </a:r>
            <a:r>
              <a:rPr sz="2000" spc="-25" dirty="0">
                <a:solidFill>
                  <a:srgbClr val="3B3434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3B3434"/>
                </a:solidFill>
                <a:latin typeface="Times New Roman"/>
                <a:cs typeface="Times New Roman"/>
              </a:rPr>
              <a:t>feature</a:t>
            </a:r>
            <a:r>
              <a:rPr sz="2000" spc="-30" dirty="0">
                <a:solidFill>
                  <a:srgbClr val="3B3434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3B3434"/>
                </a:solidFill>
                <a:latin typeface="Times New Roman"/>
                <a:cs typeface="Times New Roman"/>
              </a:rPr>
              <a:t>extraction</a:t>
            </a:r>
            <a:r>
              <a:rPr sz="2000" spc="-25" dirty="0">
                <a:solidFill>
                  <a:srgbClr val="3B3434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3B3434"/>
                </a:solidFill>
                <a:latin typeface="Times New Roman"/>
                <a:cs typeface="Times New Roman"/>
              </a:rPr>
              <a:t>at</a:t>
            </a:r>
            <a:r>
              <a:rPr sz="2000" spc="-25" dirty="0">
                <a:solidFill>
                  <a:srgbClr val="3B3434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3B3434"/>
                </a:solidFill>
                <a:latin typeface="Times New Roman"/>
                <a:cs typeface="Times New Roman"/>
              </a:rPr>
              <a:t>the</a:t>
            </a:r>
            <a:r>
              <a:rPr sz="2000" spc="-30" dirty="0">
                <a:solidFill>
                  <a:srgbClr val="3B3434"/>
                </a:solidFill>
                <a:latin typeface="Times New Roman"/>
                <a:cs typeface="Times New Roman"/>
              </a:rPr>
              <a:t> </a:t>
            </a:r>
            <a:r>
              <a:rPr sz="2000" spc="-20" dirty="0">
                <a:solidFill>
                  <a:srgbClr val="3B3434"/>
                </a:solidFill>
                <a:latin typeface="Times New Roman"/>
                <a:cs typeface="Times New Roman"/>
              </a:rPr>
              <a:t>edge </a:t>
            </a:r>
            <a:r>
              <a:rPr sz="2000" dirty="0">
                <a:solidFill>
                  <a:srgbClr val="3B3434"/>
                </a:solidFill>
                <a:latin typeface="Times New Roman"/>
                <a:cs typeface="Times New Roman"/>
              </a:rPr>
              <a:t>so</a:t>
            </a:r>
            <a:r>
              <a:rPr sz="2000" spc="-40" dirty="0">
                <a:solidFill>
                  <a:srgbClr val="3B3434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3B3434"/>
                </a:solidFill>
                <a:latin typeface="Times New Roman"/>
                <a:cs typeface="Times New Roman"/>
              </a:rPr>
              <a:t>only</a:t>
            </a:r>
            <a:r>
              <a:rPr sz="2000" spc="-40" dirty="0">
                <a:solidFill>
                  <a:srgbClr val="3B3434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3B3434"/>
                </a:solidFill>
                <a:latin typeface="Times New Roman"/>
                <a:cs typeface="Times New Roman"/>
              </a:rPr>
              <a:t>essential</a:t>
            </a:r>
            <a:r>
              <a:rPr sz="2000" spc="-35" dirty="0">
                <a:solidFill>
                  <a:srgbClr val="3B3434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3B3434"/>
                </a:solidFill>
                <a:latin typeface="Times New Roman"/>
                <a:cs typeface="Times New Roman"/>
              </a:rPr>
              <a:t>frames</a:t>
            </a:r>
            <a:r>
              <a:rPr sz="2000" spc="-40" dirty="0">
                <a:solidFill>
                  <a:srgbClr val="3B3434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3B3434"/>
                </a:solidFill>
                <a:latin typeface="Times New Roman"/>
                <a:cs typeface="Times New Roman"/>
              </a:rPr>
              <a:t>or</a:t>
            </a:r>
            <a:r>
              <a:rPr sz="2000" spc="-35" dirty="0">
                <a:solidFill>
                  <a:srgbClr val="3B3434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3B3434"/>
                </a:solidFill>
                <a:latin typeface="Times New Roman"/>
                <a:cs typeface="Times New Roman"/>
              </a:rPr>
              <a:t>metadata</a:t>
            </a:r>
            <a:r>
              <a:rPr sz="2000" spc="-40" dirty="0">
                <a:solidFill>
                  <a:srgbClr val="3B3434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3B3434"/>
                </a:solidFill>
                <a:latin typeface="Times New Roman"/>
                <a:cs typeface="Times New Roman"/>
              </a:rPr>
              <a:t>are</a:t>
            </a:r>
            <a:r>
              <a:rPr sz="2000" spc="-35" dirty="0">
                <a:solidFill>
                  <a:srgbClr val="3B3434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3B3434"/>
                </a:solidFill>
                <a:latin typeface="Times New Roman"/>
                <a:cs typeface="Times New Roman"/>
              </a:rPr>
              <a:t>sent</a:t>
            </a:r>
            <a:r>
              <a:rPr sz="2000" spc="-40" dirty="0">
                <a:solidFill>
                  <a:srgbClr val="3B3434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3B3434"/>
                </a:solidFill>
                <a:latin typeface="Times New Roman"/>
                <a:cs typeface="Times New Roman"/>
              </a:rPr>
              <a:t>to</a:t>
            </a:r>
            <a:r>
              <a:rPr sz="2000" spc="-40" dirty="0">
                <a:solidFill>
                  <a:srgbClr val="3B3434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3B3434"/>
                </a:solidFill>
                <a:latin typeface="Times New Roman"/>
                <a:cs typeface="Times New Roman"/>
              </a:rPr>
              <a:t>central</a:t>
            </a:r>
            <a:r>
              <a:rPr sz="2000" spc="-35" dirty="0">
                <a:solidFill>
                  <a:srgbClr val="3B3434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3B3434"/>
                </a:solidFill>
                <a:latin typeface="Times New Roman"/>
                <a:cs typeface="Times New Roman"/>
              </a:rPr>
              <a:t>storage.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30823" y="263676"/>
            <a:ext cx="10585939" cy="6799378"/>
          </a:xfrm>
          <a:custGeom>
            <a:avLst/>
            <a:gdLst/>
            <a:ahLst/>
            <a:cxnLst/>
            <a:rect l="l" t="t" r="r" b="b"/>
            <a:pathLst>
              <a:path w="11430000" h="6781800">
                <a:moveTo>
                  <a:pt x="11430000" y="6781800"/>
                </a:moveTo>
                <a:lnTo>
                  <a:pt x="0" y="6781800"/>
                </a:lnTo>
                <a:lnTo>
                  <a:pt x="0" y="0"/>
                </a:lnTo>
                <a:lnTo>
                  <a:pt x="11430000" y="0"/>
                </a:lnTo>
                <a:lnTo>
                  <a:pt x="11430000" y="6781800"/>
                </a:lnTo>
                <a:close/>
              </a:path>
            </a:pathLst>
          </a:custGeom>
          <a:solidFill>
            <a:srgbClr val="FFFAF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xfrm>
            <a:off x="431448" y="522045"/>
            <a:ext cx="4843145" cy="487954"/>
          </a:xfrm>
          <a:prstGeom prst="rect">
            <a:avLst/>
          </a:prstGeom>
        </p:spPr>
        <p:txBody>
          <a:bodyPr vert="horz" wrap="square" lIns="0" tIns="12065" rIns="0" bIns="0" rtlCol="0" anchor="t">
            <a:spAutoFit/>
          </a:bodyPr>
          <a:lstStyle/>
          <a:p>
            <a:pPr marL="12700" marR="5080">
              <a:lnSpc>
                <a:spcPct val="106400"/>
              </a:lnSpc>
              <a:spcBef>
                <a:spcPts val="95"/>
              </a:spcBef>
            </a:pPr>
            <a:r>
              <a:rPr sz="3200" b="1"/>
              <a:t>Conclusion</a:t>
            </a:r>
            <a:r>
              <a:t>:</a:t>
            </a:r>
            <a:endParaRPr lang="en-US" spc="75">
              <a:ea typeface="Tahoma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829930" y="5686862"/>
            <a:ext cx="1918777" cy="142438"/>
            <a:chOff x="829930" y="5686862"/>
            <a:chExt cx="1918777" cy="142438"/>
          </a:xfrm>
        </p:grpSpPr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29930" y="5686862"/>
              <a:ext cx="139471" cy="139471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59807" y="5715000"/>
              <a:ext cx="88900" cy="114300"/>
            </a:xfrm>
            <a:prstGeom prst="rect">
              <a:avLst/>
            </a:prstGeom>
          </p:spPr>
        </p:pic>
      </p:grpSp>
      <p:sp>
        <p:nvSpPr>
          <p:cNvPr id="11" name="object 11"/>
          <p:cNvSpPr txBox="1"/>
          <p:nvPr/>
        </p:nvSpPr>
        <p:spPr>
          <a:xfrm>
            <a:off x="624879" y="1371720"/>
            <a:ext cx="10605428" cy="4534383"/>
          </a:xfrm>
          <a:prstGeom prst="rect">
            <a:avLst/>
          </a:prstGeom>
        </p:spPr>
        <p:txBody>
          <a:bodyPr vert="horz" wrap="square" lIns="0" tIns="12700" rIns="0" bIns="0" rtlCol="0" anchor="t">
            <a:spAutoFit/>
          </a:bodyPr>
          <a:lstStyle/>
          <a:p>
            <a:pPr marL="342900" indent="-342900" algn="l">
              <a:buChar char="•"/>
              <a:tabLst>
                <a:tab pos="2441575" algn="l"/>
              </a:tabLst>
            </a:pPr>
            <a:r>
              <a:rPr lang="en-US" sz="2400">
                <a:solidFill>
                  <a:srgbClr val="3B3434"/>
                </a:solidFill>
                <a:latin typeface="Times New Roman"/>
                <a:cs typeface="Times New Roman"/>
              </a:rPr>
              <a:t>Spatial resolution determines the level of detail present in an image. </a:t>
            </a:r>
            <a:endParaRPr lang="en-US" sz="2400">
              <a:latin typeface="Times New Roman"/>
              <a:cs typeface="Times New Roman"/>
            </a:endParaRPr>
          </a:p>
          <a:p>
            <a:pPr marL="342900" indent="-342900" algn="l">
              <a:buChar char="•"/>
              <a:tabLst>
                <a:tab pos="2441575" algn="l"/>
              </a:tabLst>
            </a:pPr>
            <a:r>
              <a:rPr lang="en-US" sz="2400">
                <a:solidFill>
                  <a:srgbClr val="3B3434"/>
                </a:solidFill>
                <a:latin typeface="Times New Roman"/>
                <a:cs typeface="Times New Roman"/>
              </a:rPr>
              <a:t>Higher spatial resolution improves image quality, feature extraction, and object detection accuracy. </a:t>
            </a:r>
            <a:endParaRPr lang="en-US" sz="2400">
              <a:latin typeface="Times New Roman"/>
              <a:cs typeface="Times New Roman"/>
            </a:endParaRPr>
          </a:p>
          <a:p>
            <a:pPr marL="342900" indent="-342900" algn="l">
              <a:buChar char="•"/>
              <a:tabLst>
                <a:tab pos="2441575" algn="l"/>
              </a:tabLst>
            </a:pPr>
            <a:r>
              <a:rPr lang="en-US" sz="2400">
                <a:solidFill>
                  <a:srgbClr val="3B3434"/>
                </a:solidFill>
                <a:latin typeface="Times New Roman"/>
                <a:cs typeface="Times New Roman"/>
              </a:rPr>
              <a:t>Increasing image resolution also increases storage requirements, memory usage, and computational cost. </a:t>
            </a:r>
            <a:endParaRPr lang="en-US" sz="2400">
              <a:latin typeface="Times New Roman"/>
              <a:cs typeface="Times New Roman"/>
            </a:endParaRPr>
          </a:p>
          <a:p>
            <a:pPr marL="342900" indent="-342900" algn="l">
              <a:buChar char="•"/>
              <a:tabLst>
                <a:tab pos="2441575" algn="l"/>
              </a:tabLst>
            </a:pPr>
            <a:r>
              <a:rPr lang="en-US" sz="2400">
                <a:solidFill>
                  <a:srgbClr val="3B3434"/>
                </a:solidFill>
                <a:latin typeface="Times New Roman"/>
                <a:cs typeface="Times New Roman"/>
              </a:rPr>
              <a:t>Lower spatial resolution reduces file size, storage space, and processing time but may result in loss of important image details. </a:t>
            </a:r>
            <a:endParaRPr lang="en-US" sz="2400">
              <a:latin typeface="Times New Roman"/>
              <a:cs typeface="Times New Roman"/>
            </a:endParaRPr>
          </a:p>
          <a:p>
            <a:pPr marL="342900" indent="-342900" algn="l">
              <a:buChar char="•"/>
              <a:tabLst>
                <a:tab pos="2441575" algn="l"/>
              </a:tabLst>
            </a:pPr>
            <a:r>
              <a:rPr lang="en-US" sz="2400">
                <a:solidFill>
                  <a:srgbClr val="3B3434"/>
                </a:solidFill>
                <a:latin typeface="Times New Roman"/>
                <a:cs typeface="Times New Roman"/>
              </a:rPr>
              <a:t>There is a trade-off between achieving high image quality and minimizing storage and processing requirements. </a:t>
            </a:r>
            <a:endParaRPr lang="en-US" sz="2400">
              <a:latin typeface="Times New Roman"/>
              <a:cs typeface="Times New Roman"/>
            </a:endParaRPr>
          </a:p>
          <a:p>
            <a:pPr marL="342900" indent="-342900" algn="l">
              <a:buChar char="•"/>
              <a:tabLst>
                <a:tab pos="2441575" algn="l"/>
              </a:tabLst>
            </a:pPr>
            <a:r>
              <a:rPr lang="en-US" sz="2400">
                <a:solidFill>
                  <a:srgbClr val="3B3434"/>
                </a:solidFill>
                <a:latin typeface="Times New Roman"/>
                <a:cs typeface="Times New Roman"/>
              </a:rPr>
              <a:t>The optimal image resolution should be selected based on the application's performance, accuracy, and storage constraints.</a:t>
            </a:r>
            <a:endParaRPr lang="en-US" sz="2400">
              <a:latin typeface="Times New Roman"/>
              <a:cs typeface="Times New Roman"/>
            </a:endParaRPr>
          </a:p>
          <a:p>
            <a:pPr marL="12700" marR="53975" indent="193675">
              <a:lnSpc>
                <a:spcPct val="135000"/>
              </a:lnSpc>
              <a:spcBef>
                <a:spcPts val="100"/>
              </a:spcBef>
              <a:tabLst>
                <a:tab pos="2441575" algn="l"/>
              </a:tabLst>
            </a:pPr>
            <a:endParaRPr lang="en-US" sz="2400" dirty="0">
              <a:solidFill>
                <a:srgbClr val="3B3434"/>
              </a:solidFill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8BE0E3-B18A-5C96-47F4-CED83BEB4E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980592" y="2862312"/>
            <a:ext cx="10287000" cy="738664"/>
          </a:xfrm>
        </p:spPr>
        <p:txBody>
          <a:bodyPr wrap="square" lIns="0" tIns="0" rIns="0" bIns="0" anchor="t">
            <a:spAutoFit/>
          </a:bodyPr>
          <a:lstStyle/>
          <a:p>
            <a:r>
              <a:rPr lang="en-US" sz="480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2767079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Custom</PresentationFormat>
  <Slides>9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Office Theme</vt:lpstr>
      <vt:lpstr>Trade off analysis between spatial resolution and storage requirements using comparitive charts and structured communication                                                            VENUMBAKA HARSHITHA                                                       192371055</vt:lpstr>
      <vt:lpstr>What is Spatial Resolution?</vt:lpstr>
      <vt:lpstr>Resolution vs. Storage: Navigating the Computer Vision Trade-off</vt:lpstr>
      <vt:lpstr>The Mechanics of Storage Requirements</vt:lpstr>
      <vt:lpstr>PowerPoint Presentation</vt:lpstr>
      <vt:lpstr>PowerPoint Presentation</vt:lpstr>
      <vt:lpstr>Strategic Trade-offs in Practice</vt:lpstr>
      <vt:lpstr>Conclusion: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revision>200</cp:revision>
  <dcterms:created xsi:type="dcterms:W3CDTF">2026-07-16T03:30:23Z</dcterms:created>
  <dcterms:modified xsi:type="dcterms:W3CDTF">2026-07-25T05:42:52Z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2026-07-16T00:00:00Z</vt:filetime>
  </property>
  <property fmtid="{D5CDD505-2E9C-101B-9397-08002B2CF9AE}" pid="4" name="Creator">
    <vt:lpwstr>pdf-lib (https://github.com/Hopding/pdf-lib)</vt:lpwstr>
  </property>
  <property fmtid="{D5CDD505-2E9C-101B-9397-08002B2CF9AE}" pid="5" name="LastSaved">
    <vt:filetime>2026-07-16T00:00:00Z</vt:filetime>
  </property>
  <property fmtid="{D5CDD505-2E9C-101B-9397-08002B2CF9AE}" pid="6" name="Producer">
    <vt:lpwstr>iLovePDF</vt:lpwstr>
  </property>
</Properties>
</file>